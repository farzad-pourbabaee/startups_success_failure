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9144000" cy="5143500" type="screen16x9"/>
  <p:notesSz cx="6858000" cy="9144000"/>
  <p:embeddedFontLst>
    <p:embeddedFont>
      <p:font typeface="Georgia" panose="02040502050405020303" pitchFamily="18" charset="0"/>
      <p:regular r:id="rId41"/>
      <p:bold r:id="rId42"/>
      <p:italic r:id="rId43"/>
      <p:boldItalic r:id="rId44"/>
    </p:embeddedFont>
    <p:embeddedFont>
      <p:font typeface="Roboto" panose="02000000000000000000" pitchFamily="2" charset="0"/>
      <p:regular r:id="rId45"/>
      <p:bold r:id="rId46"/>
      <p:italic r:id="rId47"/>
      <p:boldItalic r:id="rId48"/>
    </p:embeddedFont>
    <p:embeddedFont>
      <p:font typeface="Roboto Medium" panose="020000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63"/>
  </p:normalViewPr>
  <p:slideViewPr>
    <p:cSldViewPr snapToGrid="0">
      <p:cViewPr varScale="1">
        <p:scale>
          <a:sx n="114" d="100"/>
          <a:sy n="114" d="100"/>
        </p:scale>
        <p:origin x="102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1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font" Target="fonts/font1.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cikit-learn.org/stable/modules/generated/sklearn.ensemble.RandomForestClassifier.html"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xgboost.readthedocs.io/en/latest/python/python_api.html" TargetMode="External"/><Relationship Id="rId5" Type="http://schemas.openxmlformats.org/officeDocument/2006/relationships/hyperlink" Target="https://scikit-learn.org/stable/modules/generated/sklearn.svm.SVC.html" TargetMode="External"/><Relationship Id="rId4" Type="http://schemas.openxmlformats.org/officeDocument/2006/relationships/hyperlink" Target="https://scikit-learn.org/stable/modules/generated/sklearn.neighbors.KNeighborsClassifier.html"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5631eab13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5631eab13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5631eab134_1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5631eab134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5a1fa65ffe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5a1fa65ff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5a1fa65ffe_1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5a1fa65ffe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558fd9f19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558fd9f19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57bff118dd_3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57bff118dd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5a1250f7d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5a1250f7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5a1250f7d1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5a1250f7d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5a1250f7d1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5a1250f7d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5a1250f7d1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5a1250f7d1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5a1250f7d1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5a1250f7d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5a1250f7d1_2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5a1250f7d1_2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800">
              <a:solidFill>
                <a:srgbClr val="0097A7"/>
              </a:solidFill>
            </a:endParaRPr>
          </a:p>
          <a:p>
            <a:pPr marL="0" lvl="0" indent="0" algn="l" rtl="0">
              <a:lnSpc>
                <a:spcPct val="115000"/>
              </a:lnSpc>
              <a:spcBef>
                <a:spcPts val="0"/>
              </a:spcBef>
              <a:spcAft>
                <a:spcPts val="0"/>
              </a:spcAft>
              <a:buNone/>
            </a:pPr>
            <a:r>
              <a:rPr lang="en" sz="800">
                <a:solidFill>
                  <a:srgbClr val="0097A7"/>
                </a:solidFill>
              </a:rPr>
              <a:t>Random Forest</a:t>
            </a:r>
            <a:endParaRPr sz="800">
              <a:solidFill>
                <a:srgbClr val="0097A7"/>
              </a:solidFill>
            </a:endParaRPr>
          </a:p>
          <a:p>
            <a:pPr marL="0" lvl="0" indent="0" algn="l" rtl="0">
              <a:lnSpc>
                <a:spcPct val="115000"/>
              </a:lnSpc>
              <a:spcBef>
                <a:spcPts val="0"/>
              </a:spcBef>
              <a:spcAft>
                <a:spcPts val="0"/>
              </a:spcAft>
              <a:buNone/>
            </a:pPr>
            <a:r>
              <a:rPr lang="en" sz="800" u="sng">
                <a:solidFill>
                  <a:schemeClr val="hlink"/>
                </a:solidFill>
                <a:hlinkClick r:id="rId3"/>
              </a:rPr>
              <a:t>https://scikit-learn.org/stable/modules/generated/sklearn.ensemble.RandomForestClassifier.html</a:t>
            </a:r>
            <a:endParaRPr sz="800">
              <a:solidFill>
                <a:srgbClr val="0097A7"/>
              </a:solidFill>
            </a:endParaRPr>
          </a:p>
          <a:p>
            <a:pPr marL="0" lvl="0" indent="0" algn="l" rtl="0">
              <a:lnSpc>
                <a:spcPct val="115000"/>
              </a:lnSpc>
              <a:spcBef>
                <a:spcPts val="0"/>
              </a:spcBef>
              <a:spcAft>
                <a:spcPts val="0"/>
              </a:spcAft>
              <a:buNone/>
            </a:pPr>
            <a:endParaRPr sz="800">
              <a:solidFill>
                <a:srgbClr val="0097A7"/>
              </a:solidFill>
            </a:endParaRPr>
          </a:p>
          <a:p>
            <a:pPr marL="0" lvl="0" indent="0" algn="l" rtl="0">
              <a:lnSpc>
                <a:spcPct val="115000"/>
              </a:lnSpc>
              <a:spcBef>
                <a:spcPts val="0"/>
              </a:spcBef>
              <a:spcAft>
                <a:spcPts val="0"/>
              </a:spcAft>
              <a:buNone/>
            </a:pPr>
            <a:r>
              <a:rPr lang="en" sz="800">
                <a:solidFill>
                  <a:srgbClr val="0097A7"/>
                </a:solidFill>
              </a:rPr>
              <a:t>KNN</a:t>
            </a:r>
            <a:endParaRPr sz="800">
              <a:solidFill>
                <a:srgbClr val="0097A7"/>
              </a:solidFill>
            </a:endParaRPr>
          </a:p>
          <a:p>
            <a:pPr marL="0" lvl="0" indent="0" algn="l" rtl="0">
              <a:lnSpc>
                <a:spcPct val="115000"/>
              </a:lnSpc>
              <a:spcBef>
                <a:spcPts val="0"/>
              </a:spcBef>
              <a:spcAft>
                <a:spcPts val="0"/>
              </a:spcAft>
              <a:buNone/>
            </a:pPr>
            <a:r>
              <a:rPr lang="en" sz="800" u="sng">
                <a:solidFill>
                  <a:schemeClr val="hlink"/>
                </a:solidFill>
                <a:hlinkClick r:id="rId4"/>
              </a:rPr>
              <a:t>https://scikit-learn.org/stable/modules/generated/sklearn.neighbors.KNeighborsClassifier.html</a:t>
            </a:r>
            <a:endParaRPr sz="800">
              <a:solidFill>
                <a:srgbClr val="0097A7"/>
              </a:solidFill>
            </a:endParaRPr>
          </a:p>
          <a:p>
            <a:pPr marL="0" lvl="0" indent="0" algn="l" rtl="0">
              <a:lnSpc>
                <a:spcPct val="115000"/>
              </a:lnSpc>
              <a:spcBef>
                <a:spcPts val="0"/>
              </a:spcBef>
              <a:spcAft>
                <a:spcPts val="0"/>
              </a:spcAft>
              <a:buNone/>
            </a:pPr>
            <a:endParaRPr sz="2800">
              <a:solidFill>
                <a:srgbClr val="0097A7"/>
              </a:solidFill>
              <a:latin typeface="Georgia"/>
              <a:ea typeface="Georgia"/>
              <a:cs typeface="Georgia"/>
              <a:sym typeface="Georgia"/>
            </a:endParaRPr>
          </a:p>
          <a:p>
            <a:pPr marL="0" lvl="0" indent="0" algn="l" rtl="0">
              <a:lnSpc>
                <a:spcPct val="115000"/>
              </a:lnSpc>
              <a:spcBef>
                <a:spcPts val="0"/>
              </a:spcBef>
              <a:spcAft>
                <a:spcPts val="0"/>
              </a:spcAft>
              <a:buNone/>
            </a:pPr>
            <a:r>
              <a:rPr lang="en" sz="800">
                <a:solidFill>
                  <a:srgbClr val="0097A7"/>
                </a:solidFill>
              </a:rPr>
              <a:t>SVM</a:t>
            </a:r>
            <a:endParaRPr sz="800">
              <a:solidFill>
                <a:srgbClr val="0097A7"/>
              </a:solidFill>
            </a:endParaRPr>
          </a:p>
          <a:p>
            <a:pPr marL="0" lvl="0" indent="0" algn="l" rtl="0">
              <a:lnSpc>
                <a:spcPct val="115000"/>
              </a:lnSpc>
              <a:spcBef>
                <a:spcPts val="0"/>
              </a:spcBef>
              <a:spcAft>
                <a:spcPts val="0"/>
              </a:spcAft>
              <a:buNone/>
            </a:pPr>
            <a:r>
              <a:rPr lang="en" sz="800" u="sng">
                <a:solidFill>
                  <a:schemeClr val="hlink"/>
                </a:solidFill>
                <a:hlinkClick r:id="rId5"/>
              </a:rPr>
              <a:t>https://scikit-learn.org/stable/modules/generated/sklearn.svm.SVC.html</a:t>
            </a:r>
            <a:endParaRPr sz="800">
              <a:solidFill>
                <a:srgbClr val="0097A7"/>
              </a:solidFill>
            </a:endParaRPr>
          </a:p>
          <a:p>
            <a:pPr marL="0" lvl="0" indent="0" algn="l" rtl="0">
              <a:lnSpc>
                <a:spcPct val="115000"/>
              </a:lnSpc>
              <a:spcBef>
                <a:spcPts val="0"/>
              </a:spcBef>
              <a:spcAft>
                <a:spcPts val="0"/>
              </a:spcAft>
              <a:buNone/>
            </a:pPr>
            <a:endParaRPr sz="800">
              <a:solidFill>
                <a:srgbClr val="0097A7"/>
              </a:solidFill>
            </a:endParaRPr>
          </a:p>
          <a:p>
            <a:pPr marL="0" lvl="0" indent="0" algn="l" rtl="0">
              <a:lnSpc>
                <a:spcPct val="115000"/>
              </a:lnSpc>
              <a:spcBef>
                <a:spcPts val="0"/>
              </a:spcBef>
              <a:spcAft>
                <a:spcPts val="0"/>
              </a:spcAft>
              <a:buNone/>
            </a:pPr>
            <a:endParaRPr sz="800">
              <a:solidFill>
                <a:srgbClr val="0097A7"/>
              </a:solidFill>
            </a:endParaRPr>
          </a:p>
          <a:p>
            <a:pPr marL="0" lvl="0" indent="0" algn="l" rtl="0">
              <a:lnSpc>
                <a:spcPct val="115000"/>
              </a:lnSpc>
              <a:spcBef>
                <a:spcPts val="0"/>
              </a:spcBef>
              <a:spcAft>
                <a:spcPts val="0"/>
              </a:spcAft>
              <a:buNone/>
            </a:pPr>
            <a:r>
              <a:rPr lang="en" sz="800">
                <a:solidFill>
                  <a:srgbClr val="0097A7"/>
                </a:solidFill>
              </a:rPr>
              <a:t>XGBoost </a:t>
            </a:r>
            <a:endParaRPr sz="800">
              <a:solidFill>
                <a:srgbClr val="0097A7"/>
              </a:solidFill>
            </a:endParaRPr>
          </a:p>
          <a:p>
            <a:pPr marL="0" lvl="0" indent="0" algn="l" rtl="0">
              <a:lnSpc>
                <a:spcPct val="115000"/>
              </a:lnSpc>
              <a:spcBef>
                <a:spcPts val="0"/>
              </a:spcBef>
              <a:spcAft>
                <a:spcPts val="0"/>
              </a:spcAft>
              <a:buNone/>
            </a:pPr>
            <a:r>
              <a:rPr lang="en" sz="800" u="sng">
                <a:solidFill>
                  <a:schemeClr val="hlink"/>
                </a:solidFill>
                <a:latin typeface="Georgia"/>
                <a:ea typeface="Georgia"/>
                <a:cs typeface="Georgia"/>
                <a:sym typeface="Georgia"/>
                <a:hlinkClick r:id="rId6"/>
              </a:rPr>
              <a:t>https://xgboost.readthedocs.io/en/latest/python/python_api.html</a:t>
            </a:r>
            <a:endParaRPr sz="800">
              <a:solidFill>
                <a:srgbClr val="0097A7"/>
              </a:solidFill>
              <a:latin typeface="Georgia"/>
              <a:ea typeface="Georgia"/>
              <a:cs typeface="Georgia"/>
              <a:sym typeface="Georgia"/>
            </a:endParaRPr>
          </a:p>
          <a:p>
            <a:pPr marL="0" lvl="0" indent="0" algn="l" rtl="0">
              <a:lnSpc>
                <a:spcPct val="115000"/>
              </a:lnSpc>
              <a:spcBef>
                <a:spcPts val="0"/>
              </a:spcBef>
              <a:spcAft>
                <a:spcPts val="0"/>
              </a:spcAft>
              <a:buNone/>
            </a:pPr>
            <a:endParaRPr sz="800">
              <a:solidFill>
                <a:srgbClr val="0097A7"/>
              </a:solidFill>
              <a:latin typeface="Georgia"/>
              <a:ea typeface="Georgia"/>
              <a:cs typeface="Georgia"/>
              <a:sym typeface="Georgia"/>
            </a:endParaRPr>
          </a:p>
          <a:p>
            <a:pPr marL="0" lvl="0" indent="0" algn="l" rtl="0">
              <a:lnSpc>
                <a:spcPct val="115000"/>
              </a:lnSpc>
              <a:spcBef>
                <a:spcPts val="0"/>
              </a:spcBef>
              <a:spcAft>
                <a:spcPts val="0"/>
              </a:spcAft>
              <a:buClr>
                <a:schemeClr val="dk1"/>
              </a:buClr>
              <a:buSzPts val="1100"/>
              <a:buFont typeface="Arial"/>
              <a:buNone/>
            </a:pPr>
            <a:r>
              <a:rPr lang="en" sz="800"/>
              <a:t>max_depth (int) – Maximum tree depth for base learners.</a:t>
            </a:r>
            <a:endParaRPr sz="800"/>
          </a:p>
          <a:p>
            <a:pPr marL="0" lvl="0" indent="0" algn="l" rtl="0">
              <a:lnSpc>
                <a:spcPct val="115000"/>
              </a:lnSpc>
              <a:spcBef>
                <a:spcPts val="0"/>
              </a:spcBef>
              <a:spcAft>
                <a:spcPts val="0"/>
              </a:spcAft>
              <a:buClr>
                <a:schemeClr val="dk1"/>
              </a:buClr>
              <a:buSzPts val="1100"/>
              <a:buFont typeface="Arial"/>
              <a:buNone/>
            </a:pPr>
            <a:r>
              <a:rPr lang="en" sz="800"/>
              <a:t>learning_rate (float) – Boosting learning rate (xgb’s “eta”)</a:t>
            </a:r>
            <a:endParaRPr sz="800"/>
          </a:p>
          <a:p>
            <a:pPr marL="0" lvl="0" indent="0" algn="l" rtl="0">
              <a:lnSpc>
                <a:spcPct val="115000"/>
              </a:lnSpc>
              <a:spcBef>
                <a:spcPts val="0"/>
              </a:spcBef>
              <a:spcAft>
                <a:spcPts val="0"/>
              </a:spcAft>
              <a:buClr>
                <a:schemeClr val="dk1"/>
              </a:buClr>
              <a:buSzPts val="1100"/>
              <a:buFont typeface="Arial"/>
              <a:buNone/>
            </a:pPr>
            <a:r>
              <a:rPr lang="en" sz="800"/>
              <a:t>n_estimators (int) – Number of trees to fit.</a:t>
            </a:r>
            <a:endParaRPr sz="800"/>
          </a:p>
          <a:p>
            <a:pPr marL="0" lvl="0" indent="0" algn="l" rtl="0">
              <a:lnSpc>
                <a:spcPct val="115000"/>
              </a:lnSpc>
              <a:spcBef>
                <a:spcPts val="0"/>
              </a:spcBef>
              <a:spcAft>
                <a:spcPts val="0"/>
              </a:spcAft>
              <a:buNone/>
            </a:pPr>
            <a:endParaRPr sz="1200">
              <a:solidFill>
                <a:srgbClr val="333333"/>
              </a:solidFill>
            </a:endParaRPr>
          </a:p>
          <a:p>
            <a:pPr marL="0" lvl="0" indent="0" algn="l" rtl="0">
              <a:lnSpc>
                <a:spcPct val="115000"/>
              </a:lnSpc>
              <a:spcBef>
                <a:spcPts val="0"/>
              </a:spcBef>
              <a:spcAft>
                <a:spcPts val="0"/>
              </a:spcAft>
              <a:buNone/>
            </a:pPr>
            <a:endParaRPr sz="1200">
              <a:solidFill>
                <a:srgbClr val="333333"/>
              </a:solidFill>
            </a:endParaRPr>
          </a:p>
          <a:p>
            <a:pPr marL="0" lvl="0" indent="0" algn="l" rtl="0">
              <a:lnSpc>
                <a:spcPct val="115000"/>
              </a:lnSpc>
              <a:spcBef>
                <a:spcPts val="0"/>
              </a:spcBef>
              <a:spcAft>
                <a:spcPts val="0"/>
              </a:spcAft>
              <a:buNone/>
            </a:pPr>
            <a:endParaRPr sz="1200">
              <a:solidFill>
                <a:srgbClr val="333333"/>
              </a:solidFill>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576cb0f816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576cb0f816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576cb0f816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576cb0f816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576cb0f816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576cb0f816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5a1fa65ff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5a1fa65ff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222222"/>
                </a:solidFill>
              </a:rPr>
              <a:t>SHAP (</a:t>
            </a:r>
            <a:r>
              <a:rPr lang="en" sz="1000">
                <a:solidFill>
                  <a:schemeClr val="dk1"/>
                </a:solidFill>
              </a:rPr>
              <a:t>SHapley Additive exPlanations </a:t>
            </a:r>
            <a:r>
              <a:rPr lang="en" sz="1200">
                <a:solidFill>
                  <a:srgbClr val="222222"/>
                </a:solidFill>
              </a:rPr>
              <a:t>) is proposed to NIPS in 2017. </a:t>
            </a: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None/>
            </a:pPr>
            <a:r>
              <a:rPr lang="en" sz="1200">
                <a:solidFill>
                  <a:srgbClr val="222222"/>
                </a:solidFill>
              </a:rPr>
              <a:t>improved computational performance and/or </a:t>
            </a:r>
            <a:r>
              <a:rPr lang="en" sz="1200" b="1">
                <a:solidFill>
                  <a:srgbClr val="222222"/>
                </a:solidFill>
              </a:rPr>
              <a:t>better consistency with human intuition </a:t>
            </a:r>
            <a:r>
              <a:rPr lang="en" sz="1200">
                <a:solidFill>
                  <a:srgbClr val="222222"/>
                </a:solidFill>
              </a:rPr>
              <a:t>than previous approaches.</a:t>
            </a:r>
            <a:endParaRPr sz="1200">
              <a:solidFill>
                <a:srgbClr val="222222"/>
              </a:solidFill>
            </a:endParaRPr>
          </a:p>
          <a:p>
            <a:pPr marL="0" lvl="0" indent="0" algn="l" rtl="0">
              <a:spcBef>
                <a:spcPts val="0"/>
              </a:spcBef>
              <a:spcAft>
                <a:spcPts val="0"/>
              </a:spcAft>
              <a:buClr>
                <a:schemeClr val="dk1"/>
              </a:buClr>
              <a:buSzPts val="1100"/>
              <a:buFont typeface="Arial"/>
              <a:buNone/>
            </a:pPr>
            <a:endParaRPr sz="1200">
              <a:solidFill>
                <a:srgbClr val="222222"/>
              </a:solidFill>
            </a:endParaRPr>
          </a:p>
          <a:p>
            <a:pPr marL="0" lvl="0" indent="0" algn="l" rtl="0">
              <a:spcBef>
                <a:spcPts val="0"/>
              </a:spcBef>
              <a:spcAft>
                <a:spcPts val="0"/>
              </a:spcAft>
              <a:buNone/>
            </a:pPr>
            <a:r>
              <a:rPr lang="en" sz="1200">
                <a:solidFill>
                  <a:srgbClr val="222222"/>
                </a:solidFill>
              </a:rPr>
              <a:t>notable because several recent methods in the class lack the proposed desirable properties, </a:t>
            </a: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Clr>
                <a:schemeClr val="dk1"/>
              </a:buClr>
              <a:buSzPts val="1100"/>
              <a:buFont typeface="Arial"/>
              <a:buNone/>
            </a:pPr>
            <a:r>
              <a:rPr lang="en" sz="1200">
                <a:solidFill>
                  <a:srgbClr val="222222"/>
                </a:solidFill>
              </a:rPr>
              <a:t>It unifies six existing methods, </a:t>
            </a: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None/>
            </a:pPr>
            <a:r>
              <a:rPr lang="en" sz="1200">
                <a:solidFill>
                  <a:srgbClr val="222222"/>
                </a:solidFill>
              </a:rPr>
              <a:t>assigns each feature an importance value for a particular prediction.</a:t>
            </a: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None/>
            </a:pPr>
            <a:endParaRPr sz="1200">
              <a:solidFill>
                <a:srgbClr val="222222"/>
              </a:solidFill>
            </a:endParaRPr>
          </a:p>
          <a:p>
            <a:pPr marL="0" lvl="0" indent="0" algn="l" rtl="0">
              <a:spcBef>
                <a:spcPts val="0"/>
              </a:spcBef>
              <a:spcAft>
                <a:spcPts val="0"/>
              </a:spcAft>
              <a:buNone/>
            </a:pPr>
            <a:r>
              <a:rPr lang="en" sz="1200">
                <a:solidFill>
                  <a:srgbClr val="222222"/>
                </a:solidFill>
              </a:rPr>
              <a:t>LIME method interprets individual model predictions based on locally approximating the model around a given prediction</a:t>
            </a:r>
            <a:endParaRPr sz="1200">
              <a:solidFill>
                <a:srgbClr val="222222"/>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5a1250f7d1_3_9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5a1250f7d1_3_9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5a0555aab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5a0555aab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5171493c7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5171493c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576cb0f816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576cb0f816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576cb0f816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576cb0f816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576cb0f816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576cb0f81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a1250f7d1_2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a1250f7d1_2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5a1250f7d1_2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5a1250f7d1_2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5a1250f7d1_3_9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5a1250f7d1_3_9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576cb0f816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576cb0f81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a1fa65ffe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a1fa65ff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 model is non-linear or the input features are not independent</a:t>
            </a:r>
            <a:endParaRPr/>
          </a:p>
          <a:p>
            <a:pPr marL="0" lvl="0" indent="0" algn="l" rtl="0">
              <a:spcBef>
                <a:spcPts val="0"/>
              </a:spcBef>
              <a:spcAft>
                <a:spcPts val="0"/>
              </a:spcAft>
              <a:buNone/>
            </a:pPr>
            <a:endParaRPr/>
          </a:p>
          <a:p>
            <a:pPr marL="0" lvl="0" indent="0" algn="l" rtl="0">
              <a:spcBef>
                <a:spcPts val="0"/>
              </a:spcBef>
              <a:spcAft>
                <a:spcPts val="0"/>
              </a:spcAft>
              <a:buNone/>
            </a:pPr>
            <a:r>
              <a:rPr lang="en"/>
              <a:t>summing the effects of all feature attributions approximates the output f(x) of the original model.</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5a1fa65ffe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5a1fa65ff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summing the effects of all feature attributions approximates the output f(x) of the original model.</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5a1fa65ffe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5a1fa65ff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5a1fa65ffe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5a1fa65ffe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5a1250f7d1_2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5a1250f7d1_2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also applied several machine learning methods including random forest, decision tree and etc. to see which model has the best performance. We used 4 kinds of metrics to evaluate our models. The first one is accuracy, which is the fraction of correct predictions. The second is precision, it’s the fraction of true positives in all positive predictions.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5a1250f7d1_2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5a1250f7d1_2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also use recall and F1 weighted to measure the accuracy of our models. Recall measures the ability of a model to find the positive samples and F1 weighted is a harmonic average</a:t>
            </a:r>
            <a:r>
              <a:rPr lang="en" sz="1050">
                <a:solidFill>
                  <a:srgbClr val="222222"/>
                </a:solidFill>
                <a:highlight>
                  <a:srgbClr val="FFFFFF"/>
                </a:highlight>
              </a:rPr>
              <a:t> of the precision and recall.</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5a1250f7d1_2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5a1250f7d1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5a1250f7d1_2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5a1250f7d1_2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2"/>
                </a:solidFill>
                <a:latin typeface="Georgia"/>
                <a:ea typeface="Georgia"/>
                <a:cs typeface="Georgia"/>
                <a:sym typeface="Georgia"/>
              </a:rPr>
              <a:t>The plot sorts features by the sum of SHAP value magnitudes over all samples, and uses SHAP values to show the distribution of the impacts each feature has on the model output.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5a1250f7d1_2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5a1250f7d1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5a1fa65ff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5a1fa65f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5"/>
              </a:buClr>
              <a:buSzPts val="3600"/>
              <a:buFont typeface="Georgia"/>
              <a:buNone/>
              <a:defRPr sz="3600">
                <a:solidFill>
                  <a:schemeClr val="accent5"/>
                </a:solidFill>
                <a:latin typeface="Georgia"/>
                <a:ea typeface="Georgia"/>
                <a:cs typeface="Georgia"/>
                <a:sym typeface="Georgia"/>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DFDFD">
            <a:alpha val="9769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1600"/>
              </a:spcBef>
              <a:spcAft>
                <a:spcPts val="0"/>
              </a:spcAft>
              <a:buClr>
                <a:schemeClr val="dk2"/>
              </a:buClr>
              <a:buSzPts val="1400"/>
              <a:buChar char="○"/>
              <a:defRPr>
                <a:solidFill>
                  <a:schemeClr val="dk2"/>
                </a:solidFill>
              </a:defRPr>
            </a:lvl2pPr>
            <a:lvl3pPr marL="1371600" lvl="2" indent="-317500" rtl="0">
              <a:lnSpc>
                <a:spcPct val="115000"/>
              </a:lnSpc>
              <a:spcBef>
                <a:spcPts val="1600"/>
              </a:spcBef>
              <a:spcAft>
                <a:spcPts val="0"/>
              </a:spcAft>
              <a:buClr>
                <a:schemeClr val="dk2"/>
              </a:buClr>
              <a:buSzPts val="1400"/>
              <a:buChar char="■"/>
              <a:defRPr>
                <a:solidFill>
                  <a:schemeClr val="dk2"/>
                </a:solidFill>
              </a:defRPr>
            </a:lvl3pPr>
            <a:lvl4pPr marL="1828800" lvl="3" indent="-317500" rtl="0">
              <a:lnSpc>
                <a:spcPct val="115000"/>
              </a:lnSpc>
              <a:spcBef>
                <a:spcPts val="1600"/>
              </a:spcBef>
              <a:spcAft>
                <a:spcPts val="0"/>
              </a:spcAft>
              <a:buClr>
                <a:schemeClr val="dk2"/>
              </a:buClr>
              <a:buSzPts val="1400"/>
              <a:buChar char="●"/>
              <a:defRPr>
                <a:solidFill>
                  <a:schemeClr val="dk2"/>
                </a:solidFill>
              </a:defRPr>
            </a:lvl4pPr>
            <a:lvl5pPr marL="2286000" lvl="4" indent="-317500" rtl="0">
              <a:lnSpc>
                <a:spcPct val="115000"/>
              </a:lnSpc>
              <a:spcBef>
                <a:spcPts val="1600"/>
              </a:spcBef>
              <a:spcAft>
                <a:spcPts val="0"/>
              </a:spcAft>
              <a:buClr>
                <a:schemeClr val="dk2"/>
              </a:buClr>
              <a:buSzPts val="1400"/>
              <a:buChar char="○"/>
              <a:defRPr>
                <a:solidFill>
                  <a:schemeClr val="dk2"/>
                </a:solidFill>
              </a:defRPr>
            </a:lvl5pPr>
            <a:lvl6pPr marL="2743200" lvl="5" indent="-317500" rtl="0">
              <a:lnSpc>
                <a:spcPct val="115000"/>
              </a:lnSpc>
              <a:spcBef>
                <a:spcPts val="1600"/>
              </a:spcBef>
              <a:spcAft>
                <a:spcPts val="0"/>
              </a:spcAft>
              <a:buClr>
                <a:schemeClr val="dk2"/>
              </a:buClr>
              <a:buSzPts val="1400"/>
              <a:buChar char="■"/>
              <a:defRPr>
                <a:solidFill>
                  <a:schemeClr val="dk2"/>
                </a:solidFill>
              </a:defRPr>
            </a:lvl6pPr>
            <a:lvl7pPr marL="3200400" lvl="6" indent="-317500" rtl="0">
              <a:lnSpc>
                <a:spcPct val="115000"/>
              </a:lnSpc>
              <a:spcBef>
                <a:spcPts val="1600"/>
              </a:spcBef>
              <a:spcAft>
                <a:spcPts val="0"/>
              </a:spcAft>
              <a:buClr>
                <a:schemeClr val="dk2"/>
              </a:buClr>
              <a:buSzPts val="1400"/>
              <a:buChar char="●"/>
              <a:defRPr>
                <a:solidFill>
                  <a:schemeClr val="dk2"/>
                </a:solidFill>
              </a:defRPr>
            </a:lvl7pPr>
            <a:lvl8pPr marL="3657600" lvl="7" indent="-317500" rtl="0">
              <a:lnSpc>
                <a:spcPct val="115000"/>
              </a:lnSpc>
              <a:spcBef>
                <a:spcPts val="1600"/>
              </a:spcBef>
              <a:spcAft>
                <a:spcPts val="0"/>
              </a:spcAft>
              <a:buClr>
                <a:schemeClr val="dk2"/>
              </a:buClr>
              <a:buSzPts val="1400"/>
              <a:buChar char="○"/>
              <a:defRPr>
                <a:solidFill>
                  <a:schemeClr val="dk2"/>
                </a:solidFill>
              </a:defRPr>
            </a:lvl8pPr>
            <a:lvl9pPr marL="4114800" lvl="8" indent="-317500" rtl="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hyperlink" Target="http://www.internap.com" TargetMode="External"/><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slundberg/shap"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hyperlink" Target="https://www.nature.com/articles/s41551-018-0304-0"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ctrTitle"/>
          </p:nvPr>
        </p:nvSpPr>
        <p:spPr>
          <a:xfrm>
            <a:off x="1160100" y="1789300"/>
            <a:ext cx="7983900" cy="1164900"/>
          </a:xfrm>
          <a:prstGeom prst="rect">
            <a:avLst/>
          </a:prstGeom>
          <a:effectLst>
            <a:outerShdw blurRad="57150" dist="66675" dir="5400000" algn="bl" rotWithShape="0">
              <a:srgbClr val="76A5AF">
                <a:alpha val="50000"/>
              </a:srgbClr>
            </a:outerShdw>
          </a:effectLst>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4000"/>
              <a:t>Market for Startups                       </a:t>
            </a:r>
            <a:endParaRPr sz="4000"/>
          </a:p>
          <a:p>
            <a:pPr marL="0" lvl="0" indent="0" algn="ctr" rtl="0">
              <a:lnSpc>
                <a:spcPct val="115000"/>
              </a:lnSpc>
              <a:spcBef>
                <a:spcPts val="0"/>
              </a:spcBef>
              <a:spcAft>
                <a:spcPts val="0"/>
              </a:spcAft>
              <a:buNone/>
            </a:pPr>
            <a:r>
              <a:rPr lang="en" sz="4000"/>
              <a:t>        and Venture Capitalists</a:t>
            </a:r>
            <a:endParaRPr sz="4000"/>
          </a:p>
        </p:txBody>
      </p:sp>
      <p:sp>
        <p:nvSpPr>
          <p:cNvPr id="100" name="Google Shape;100;p25"/>
          <p:cNvSpPr txBox="1">
            <a:spLocks noGrp="1"/>
          </p:cNvSpPr>
          <p:nvPr>
            <p:ph type="subTitle" idx="1"/>
          </p:nvPr>
        </p:nvSpPr>
        <p:spPr>
          <a:xfrm>
            <a:off x="1243350" y="2954200"/>
            <a:ext cx="2486700" cy="1518300"/>
          </a:xfrm>
          <a:prstGeom prst="rect">
            <a:avLst/>
          </a:prstGeom>
        </p:spPr>
        <p:txBody>
          <a:bodyPr spcFirstLastPara="1" wrap="square" lIns="91425" tIns="91425" rIns="91425" bIns="91425" anchor="t" anchorCtr="0">
            <a:noAutofit/>
          </a:bodyPr>
          <a:lstStyle/>
          <a:p>
            <a:pPr marL="0" indent="0" algn="l"/>
            <a:r>
              <a:rPr lang="en-US" sz="1500" dirty="0">
                <a:latin typeface="Georgia"/>
                <a:ea typeface="Georgia"/>
                <a:cs typeface="Georgia"/>
                <a:sym typeface="Georgia"/>
              </a:rPr>
              <a:t>Farzad </a:t>
            </a:r>
            <a:r>
              <a:rPr lang="en-US" sz="1500">
                <a:latin typeface="Georgia"/>
                <a:ea typeface="Georgia"/>
                <a:cs typeface="Georgia"/>
                <a:sym typeface="Georgia"/>
              </a:rPr>
              <a:t>Pourbabaee</a:t>
            </a:r>
            <a:endParaRPr lang="en" sz="1500">
              <a:latin typeface="Georgia"/>
              <a:ea typeface="Georgia"/>
              <a:cs typeface="Georgia"/>
              <a:sym typeface="Georgia"/>
            </a:endParaRPr>
          </a:p>
          <a:p>
            <a:pPr marL="0" lvl="0" indent="0" algn="l" rtl="0">
              <a:spcBef>
                <a:spcPts val="0"/>
              </a:spcBef>
              <a:spcAft>
                <a:spcPts val="0"/>
              </a:spcAft>
              <a:buNone/>
            </a:pPr>
            <a:r>
              <a:rPr lang="en" sz="1500" dirty="0">
                <a:latin typeface="Georgia"/>
                <a:ea typeface="Georgia"/>
                <a:cs typeface="Georgia"/>
                <a:sym typeface="Georgia"/>
              </a:rPr>
              <a:t>Rachel Hu</a:t>
            </a:r>
            <a:endParaRPr sz="1500" dirty="0">
              <a:latin typeface="Georgia"/>
              <a:ea typeface="Georgia"/>
              <a:cs typeface="Georgia"/>
              <a:sym typeface="Georgia"/>
            </a:endParaRPr>
          </a:p>
          <a:p>
            <a:pPr marL="0" lvl="0" indent="0" algn="l" rtl="0">
              <a:spcBef>
                <a:spcPts val="0"/>
              </a:spcBef>
              <a:spcAft>
                <a:spcPts val="0"/>
              </a:spcAft>
              <a:buNone/>
            </a:pPr>
            <a:r>
              <a:rPr lang="en" sz="1500" dirty="0" err="1">
                <a:latin typeface="Georgia"/>
                <a:ea typeface="Georgia"/>
                <a:cs typeface="Georgia"/>
                <a:sym typeface="Georgia"/>
              </a:rPr>
              <a:t>Shubei</a:t>
            </a:r>
            <a:r>
              <a:rPr lang="en" sz="1500" dirty="0">
                <a:latin typeface="Georgia"/>
                <a:ea typeface="Georgia"/>
                <a:cs typeface="Georgia"/>
                <a:sym typeface="Georgia"/>
              </a:rPr>
              <a:t> Wang</a:t>
            </a:r>
            <a:endParaRPr sz="1500" dirty="0">
              <a:latin typeface="Georgia"/>
              <a:ea typeface="Georgia"/>
              <a:cs typeface="Georgia"/>
              <a:sym typeface="Georgia"/>
            </a:endParaRPr>
          </a:p>
          <a:p>
            <a:pPr marL="0" lvl="0" indent="0" algn="l" rtl="0">
              <a:spcBef>
                <a:spcPts val="0"/>
              </a:spcBef>
              <a:spcAft>
                <a:spcPts val="0"/>
              </a:spcAft>
              <a:buNone/>
            </a:pPr>
            <a:r>
              <a:rPr lang="en" sz="1500" dirty="0">
                <a:latin typeface="Georgia"/>
                <a:ea typeface="Georgia"/>
                <a:cs typeface="Georgia"/>
                <a:sym typeface="Georgia"/>
              </a:rPr>
              <a:t>Chris Gagne</a:t>
            </a:r>
            <a:endParaRPr sz="1500" dirty="0">
              <a:latin typeface="Georgia"/>
              <a:ea typeface="Georgia"/>
              <a:cs typeface="Georgia"/>
              <a:sym typeface="Georgia"/>
            </a:endParaRPr>
          </a:p>
        </p:txBody>
      </p:sp>
      <p:pic>
        <p:nvPicPr>
          <p:cNvPr id="101" name="Google Shape;101;p25"/>
          <p:cNvPicPr preferRelativeResize="0"/>
          <p:nvPr/>
        </p:nvPicPr>
        <p:blipFill>
          <a:blip r:embed="rId3">
            <a:alphaModFix/>
          </a:blip>
          <a:stretch>
            <a:fillRect/>
          </a:stretch>
        </p:blipFill>
        <p:spPr>
          <a:xfrm>
            <a:off x="233125" y="209350"/>
            <a:ext cx="926975" cy="926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Variable description</a:t>
            </a:r>
            <a:endParaRPr>
              <a:solidFill>
                <a:schemeClr val="accent5"/>
              </a:solidFill>
              <a:latin typeface="Georgia"/>
              <a:ea typeface="Georgia"/>
              <a:cs typeface="Georgia"/>
              <a:sym typeface="Georgia"/>
            </a:endParaRPr>
          </a:p>
        </p:txBody>
      </p:sp>
      <p:sp>
        <p:nvSpPr>
          <p:cNvPr id="107" name="Google Shape;107;p26"/>
          <p:cNvSpPr txBox="1">
            <a:spLocks noGrp="1"/>
          </p:cNvSpPr>
          <p:nvPr>
            <p:ph type="body" idx="1"/>
          </p:nvPr>
        </p:nvSpPr>
        <p:spPr>
          <a:xfrm>
            <a:off x="435900" y="1118650"/>
            <a:ext cx="8125200" cy="3241800"/>
          </a:xfrm>
          <a:prstGeom prst="rect">
            <a:avLst/>
          </a:prstGeom>
          <a:solidFill>
            <a:srgbClr val="EFEFEF"/>
          </a:solidFill>
        </p:spPr>
        <p:txBody>
          <a:bodyPr spcFirstLastPara="1" wrap="square" lIns="91425" tIns="91425" rIns="91425" bIns="91425" anchor="t" anchorCtr="0">
            <a:noAutofit/>
          </a:bodyPr>
          <a:lstStyle/>
          <a:p>
            <a:pPr marL="457200" lvl="0" indent="-342900" algn="l" rtl="0">
              <a:spcBef>
                <a:spcPts val="0"/>
              </a:spcBef>
              <a:spcAft>
                <a:spcPts val="0"/>
              </a:spcAft>
              <a:buSzPts val="1800"/>
              <a:buFont typeface="Georgia"/>
              <a:buChar char="●"/>
            </a:pPr>
            <a:r>
              <a:rPr lang="en">
                <a:latin typeface="Georgia"/>
                <a:ea typeface="Georgia"/>
                <a:cs typeface="Georgia"/>
                <a:sym typeface="Georgia"/>
              </a:rPr>
              <a:t>Y variable: binary outcome of the startup (1 for success, 0 for failure)</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Success: IPO, merger, LBO  (N=4625,  72%)</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Failure: Bankruptcy (chapter 7 and 11), defunct (N=1736,  28%)</a:t>
            </a:r>
            <a:endParaRPr>
              <a:latin typeface="Georgia"/>
              <a:ea typeface="Georgia"/>
              <a:cs typeface="Georgia"/>
              <a:sym typeface="Georgia"/>
            </a:endParaRPr>
          </a:p>
          <a:p>
            <a:pPr marL="457200" lvl="0" indent="-342900" algn="l" rtl="0">
              <a:spcBef>
                <a:spcPts val="0"/>
              </a:spcBef>
              <a:spcAft>
                <a:spcPts val="0"/>
              </a:spcAft>
              <a:buSzPts val="1800"/>
              <a:buFont typeface="Georgia"/>
              <a:buChar char="●"/>
            </a:pPr>
            <a:r>
              <a:rPr lang="en">
                <a:latin typeface="Georgia"/>
                <a:ea typeface="Georgia"/>
                <a:cs typeface="Georgia"/>
                <a:sym typeface="Georgia"/>
              </a:rPr>
              <a:t>X variables: set of features for every startup over its entire life-cycle</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Industry: SIC code, VE code and NAICS code</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Location: state</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Founding year</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Business duration</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Total funds raised</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Number of financing rounds</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Percentage of funding per round (in a CDF fashion)</a:t>
            </a:r>
            <a:endParaRPr>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7"/>
          <p:cNvSpPr txBox="1">
            <a:spLocks noGrp="1"/>
          </p:cNvSpPr>
          <p:nvPr>
            <p:ph type="title"/>
          </p:nvPr>
        </p:nvSpPr>
        <p:spPr>
          <a:xfrm>
            <a:off x="526000" y="4111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Variable description</a:t>
            </a:r>
            <a:endParaRPr>
              <a:latin typeface="Georgia"/>
              <a:ea typeface="Georgia"/>
              <a:cs typeface="Georgia"/>
              <a:sym typeface="Georgia"/>
            </a:endParaRPr>
          </a:p>
        </p:txBody>
      </p:sp>
      <p:sp>
        <p:nvSpPr>
          <p:cNvPr id="113" name="Google Shape;113;p27"/>
          <p:cNvSpPr txBox="1">
            <a:spLocks noGrp="1"/>
          </p:cNvSpPr>
          <p:nvPr>
            <p:ph type="body" idx="1"/>
          </p:nvPr>
        </p:nvSpPr>
        <p:spPr>
          <a:xfrm>
            <a:off x="526000" y="1382700"/>
            <a:ext cx="7933800" cy="2378100"/>
          </a:xfrm>
          <a:prstGeom prst="rect">
            <a:avLst/>
          </a:prstGeom>
          <a:solidFill>
            <a:srgbClr val="EFEFEF"/>
          </a:solidFill>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Font typeface="Georgia"/>
              <a:buChar char="●"/>
            </a:pPr>
            <a:r>
              <a:rPr lang="en">
                <a:latin typeface="Georgia"/>
                <a:ea typeface="Georgia"/>
                <a:cs typeface="Georgia"/>
                <a:sym typeface="Georgia"/>
              </a:rPr>
              <a:t>X variables continued:</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Identity of investors in each round</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Reputation score of VC investors: proxied by net amount that every VC invested by in the market.</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Time gaps between rounds of financing (in a CDF format)</a:t>
            </a:r>
            <a:endParaRPr>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97A7"/>
                </a:solidFill>
                <a:latin typeface="Georgia"/>
                <a:ea typeface="Georgia"/>
                <a:cs typeface="Georgia"/>
                <a:sym typeface="Georgia"/>
              </a:rPr>
              <a:t>Snapshot of a company</a:t>
            </a:r>
            <a:endParaRPr>
              <a:solidFill>
                <a:srgbClr val="0097A7"/>
              </a:solidFill>
              <a:latin typeface="Georgia"/>
              <a:ea typeface="Georgia"/>
              <a:cs typeface="Georgia"/>
              <a:sym typeface="Georgia"/>
            </a:endParaRPr>
          </a:p>
        </p:txBody>
      </p:sp>
      <p:sp>
        <p:nvSpPr>
          <p:cNvPr id="119" name="Google Shape;119;p28"/>
          <p:cNvSpPr txBox="1">
            <a:spLocks noGrp="1"/>
          </p:cNvSpPr>
          <p:nvPr>
            <p:ph type="body" idx="1"/>
          </p:nvPr>
        </p:nvSpPr>
        <p:spPr>
          <a:xfrm>
            <a:off x="210650" y="1152475"/>
            <a:ext cx="8202900" cy="3660300"/>
          </a:xfrm>
          <a:prstGeom prst="rect">
            <a:avLst/>
          </a:prstGeom>
          <a:solidFill>
            <a:srgbClr val="EFEFEF"/>
          </a:solidFill>
        </p:spPr>
        <p:txBody>
          <a:bodyPr spcFirstLastPara="1" wrap="square" lIns="91425" tIns="91425" rIns="91425" bIns="91425" anchor="t" anchorCtr="0">
            <a:noAutofit/>
          </a:bodyPr>
          <a:lstStyle/>
          <a:p>
            <a:pPr marL="457200" lvl="0" indent="-317500" algn="l" rtl="0">
              <a:spcBef>
                <a:spcPts val="0"/>
              </a:spcBef>
              <a:spcAft>
                <a:spcPts val="0"/>
              </a:spcAft>
              <a:buSzPts val="1400"/>
              <a:buFont typeface="Georgia"/>
              <a:buChar char="●"/>
            </a:pPr>
            <a:r>
              <a:rPr lang="en" sz="1400" b="1">
                <a:latin typeface="Georgia"/>
                <a:ea typeface="Georgia"/>
                <a:cs typeface="Georgia"/>
                <a:sym typeface="Georgia"/>
              </a:rPr>
              <a:t>Internap Corporation</a:t>
            </a:r>
            <a:endParaRPr sz="1400" b="1">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Headquarters' address: One Ravinia Drive, Atlanta, Georgia 30346 United States.</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Phone and Fax number and website address: 4043029700, 4044750520, </a:t>
            </a:r>
            <a:r>
              <a:rPr lang="en" sz="1400" u="sng">
                <a:latin typeface="Georgia"/>
                <a:ea typeface="Georgia"/>
                <a:cs typeface="Georgia"/>
                <a:sym typeface="Georgia"/>
                <a:hlinkClick r:id="rId3"/>
              </a:rPr>
              <a:t>www.internap.com</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SIC code: Prepackaged Software (7372)</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Number of employees: 430</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Last available sales figure: $244.63 Million (2011)</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Company founded date: 01/01/1996</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Company status: went public</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Legal counsel: Cooley Godward LLP</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Banking relationships: Silicon Valley Bank</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Accountant: PricewaterhouseCoopers</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Ticker: INAP</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IPO- date: 09/29/1999</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IPO Book manager: Morgan Stanley Dean Witter</a:t>
            </a:r>
            <a:endParaRPr sz="1400">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97A7"/>
                </a:solidFill>
                <a:latin typeface="Georgia"/>
                <a:ea typeface="Georgia"/>
                <a:cs typeface="Georgia"/>
                <a:sym typeface="Georgia"/>
              </a:rPr>
              <a:t>Key Financials of INAP</a:t>
            </a:r>
            <a:endParaRPr>
              <a:solidFill>
                <a:srgbClr val="0097A7"/>
              </a:solidFill>
              <a:latin typeface="Georgia"/>
              <a:ea typeface="Georgia"/>
              <a:cs typeface="Georgia"/>
              <a:sym typeface="Georgia"/>
            </a:endParaRPr>
          </a:p>
        </p:txBody>
      </p:sp>
      <p:sp>
        <p:nvSpPr>
          <p:cNvPr id="125" name="Google Shape;125;p29"/>
          <p:cNvSpPr txBox="1">
            <a:spLocks noGrp="1"/>
          </p:cNvSpPr>
          <p:nvPr>
            <p:ph type="body" idx="1"/>
          </p:nvPr>
        </p:nvSpPr>
        <p:spPr>
          <a:xfrm>
            <a:off x="311700" y="1164100"/>
            <a:ext cx="8346000" cy="3351000"/>
          </a:xfrm>
          <a:prstGeom prst="rect">
            <a:avLst/>
          </a:prstGeom>
          <a:solidFill>
            <a:srgbClr val="F3F3F3"/>
          </a:solidFill>
        </p:spPr>
        <p:txBody>
          <a:bodyPr spcFirstLastPara="1" wrap="square" lIns="91425" tIns="91425" rIns="91425" bIns="91425" anchor="t" anchorCtr="0">
            <a:noAutofit/>
          </a:bodyPr>
          <a:lstStyle/>
          <a:p>
            <a:pPr marL="457200" lvl="0" indent="-317500" algn="l" rtl="0">
              <a:spcBef>
                <a:spcPts val="0"/>
              </a:spcBef>
              <a:spcAft>
                <a:spcPts val="0"/>
              </a:spcAft>
              <a:buSzPts val="1400"/>
              <a:buFont typeface="Georgia"/>
              <a:buChar char="●"/>
            </a:pPr>
            <a:r>
              <a:rPr lang="en" sz="1400">
                <a:latin typeface="Georgia"/>
                <a:ea typeface="Georgia"/>
                <a:cs typeface="Georgia"/>
                <a:sym typeface="Georgia"/>
              </a:rPr>
              <a:t>Total assets: 356.71 (2011), 293.14 (2010), 267.50 (2010), 330.08 (2008) </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Total shareholders equity: 192.17 (2011), 188.61 (2010), 184.40 (2009), 248.20 (2008)</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Net sales and revenues: 244.63 (2011), 244.16 (2010), 256.26 (2009), 253.99 (2008)</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Investment rounds:</a:t>
            </a:r>
            <a:endParaRPr sz="1400">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First round 1996: early stage and made by Robert J. Lunday, Jr. in total of $0.68 Million.</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Second round 1997: expansion stage made by eight VCs and LPs in total of $7.72 Million.</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Third round 1999: again made by eight investors in total of $32.0 Million.</a:t>
            </a:r>
            <a:endParaRPr>
              <a:latin typeface="Georgia"/>
              <a:ea typeface="Georgia"/>
              <a:cs typeface="Georgia"/>
              <a:sym typeface="Georgia"/>
            </a:endParaRPr>
          </a:p>
          <a:p>
            <a:pPr marL="914400" lvl="1" indent="-317500" algn="l" rtl="0">
              <a:spcBef>
                <a:spcPts val="0"/>
              </a:spcBef>
              <a:spcAft>
                <a:spcPts val="0"/>
              </a:spcAft>
              <a:buSzPts val="1400"/>
              <a:buFont typeface="Georgia"/>
              <a:buChar char="○"/>
            </a:pPr>
            <a:r>
              <a:rPr lang="en">
                <a:latin typeface="Georgia"/>
                <a:ea typeface="Georgia"/>
                <a:cs typeface="Georgia"/>
                <a:sym typeface="Georgia"/>
              </a:rPr>
              <a:t>Final stage 2001: twelve investors, through a combination of VC firms and individuals participated in this round and put in $101.0 Million.</a:t>
            </a:r>
            <a:endParaRPr>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Top competitors: AT&amp;T corp, Cable &amp; Wireless PLC, MCI</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List of company's products</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Officers' names and their titles</a:t>
            </a:r>
            <a:endParaRPr sz="1400">
              <a:latin typeface="Georgia"/>
              <a:ea typeface="Georgia"/>
              <a:cs typeface="Georgia"/>
              <a:sym typeface="Georgia"/>
            </a:endParaRPr>
          </a:p>
          <a:p>
            <a:pPr marL="457200" lvl="0" indent="-317500" algn="l" rtl="0">
              <a:spcBef>
                <a:spcPts val="0"/>
              </a:spcBef>
              <a:spcAft>
                <a:spcPts val="0"/>
              </a:spcAft>
              <a:buSzPts val="1400"/>
              <a:buFont typeface="Georgia"/>
              <a:buChar char="●"/>
            </a:pPr>
            <a:r>
              <a:rPr lang="en" sz="1400">
                <a:latin typeface="Georgia"/>
                <a:ea typeface="Georgia"/>
                <a:cs typeface="Georgia"/>
                <a:sym typeface="Georgia"/>
              </a:rPr>
              <a:t>Directors' name and their titles</a:t>
            </a:r>
            <a:endParaRPr sz="1400">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Which startup features </a:t>
            </a:r>
            <a:r>
              <a:rPr lang="en" i="1">
                <a:solidFill>
                  <a:schemeClr val="accent5"/>
                </a:solidFill>
                <a:latin typeface="Georgia"/>
                <a:ea typeface="Georgia"/>
                <a:cs typeface="Georgia"/>
                <a:sym typeface="Georgia"/>
              </a:rPr>
              <a:t>correlate</a:t>
            </a:r>
            <a:r>
              <a:rPr lang="en">
                <a:solidFill>
                  <a:schemeClr val="accent5"/>
                </a:solidFill>
                <a:latin typeface="Georgia"/>
                <a:ea typeface="Georgia"/>
                <a:cs typeface="Georgia"/>
                <a:sym typeface="Georgia"/>
              </a:rPr>
              <a:t> with success? </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sp>
        <p:nvSpPr>
          <p:cNvPr id="131" name="Google Shape;131;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Georgia"/>
                <a:ea typeface="Georgia"/>
                <a:cs typeface="Georgia"/>
                <a:sym typeface="Georgia"/>
              </a:rPr>
              <a:t>Logistic Regression</a:t>
            </a:r>
            <a:endParaRPr>
              <a:latin typeface="Georgia"/>
              <a:ea typeface="Georgia"/>
              <a:cs typeface="Georgia"/>
              <a:sym typeface="Georgia"/>
            </a:endParaRPr>
          </a:p>
          <a:p>
            <a:pPr marL="0" lvl="0" indent="0" algn="l" rtl="0">
              <a:spcBef>
                <a:spcPts val="1600"/>
              </a:spcBef>
              <a:spcAft>
                <a:spcPts val="0"/>
              </a:spcAft>
              <a:buNone/>
            </a:pPr>
            <a:endParaRPr sz="1400">
              <a:latin typeface="Georgia"/>
              <a:ea typeface="Georgia"/>
              <a:cs typeface="Georgia"/>
              <a:sym typeface="Georgia"/>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457200" lvl="0" indent="-330200" algn="l" rtl="0">
              <a:spcBef>
                <a:spcPts val="1600"/>
              </a:spcBef>
              <a:spcAft>
                <a:spcPts val="0"/>
              </a:spcAft>
              <a:buSzPts val="1600"/>
              <a:buFont typeface="Georgia"/>
              <a:buChar char="-"/>
            </a:pPr>
            <a:r>
              <a:rPr lang="en" sz="1600">
                <a:latin typeface="Georgia"/>
                <a:ea typeface="Georgia"/>
                <a:cs typeface="Georgia"/>
                <a:sym typeface="Georgia"/>
              </a:rPr>
              <a:t>We can interpret the beta coefficients as the linear contribution of a predictor to the log-odds.  </a:t>
            </a:r>
            <a:endParaRPr sz="1600">
              <a:latin typeface="Georgia"/>
              <a:ea typeface="Georgia"/>
              <a:cs typeface="Georgia"/>
              <a:sym typeface="Georgia"/>
            </a:endParaRPr>
          </a:p>
          <a:p>
            <a:pPr marL="457200" lvl="0" indent="-330200" algn="l" rtl="0">
              <a:spcBef>
                <a:spcPts val="0"/>
              </a:spcBef>
              <a:spcAft>
                <a:spcPts val="0"/>
              </a:spcAft>
              <a:buSzPts val="1600"/>
              <a:buFont typeface="Georgia"/>
              <a:buChar char="-"/>
            </a:pPr>
            <a:r>
              <a:rPr lang="en" sz="1600">
                <a:latin typeface="Georgia"/>
                <a:ea typeface="Georgia"/>
                <a:cs typeface="Georgia"/>
                <a:sym typeface="Georgia"/>
              </a:rPr>
              <a:t>Predictors were scaled, fit using MLE, confidence intervals obtained via bootstrapping. </a:t>
            </a:r>
            <a:endParaRPr sz="1600">
              <a:latin typeface="Georgia"/>
              <a:ea typeface="Georgia"/>
              <a:cs typeface="Georgia"/>
              <a:sym typeface="Georgia"/>
            </a:endParaRPr>
          </a:p>
        </p:txBody>
      </p:sp>
      <p:pic>
        <p:nvPicPr>
          <p:cNvPr id="132" name="Google Shape;132;p30"/>
          <p:cNvPicPr preferRelativeResize="0"/>
          <p:nvPr/>
        </p:nvPicPr>
        <p:blipFill>
          <a:blip r:embed="rId3">
            <a:alphaModFix/>
          </a:blip>
          <a:stretch>
            <a:fillRect/>
          </a:stretch>
        </p:blipFill>
        <p:spPr>
          <a:xfrm>
            <a:off x="2069775" y="1804450"/>
            <a:ext cx="5004450" cy="1690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Which startup features </a:t>
            </a:r>
            <a:r>
              <a:rPr lang="en" i="1">
                <a:solidFill>
                  <a:schemeClr val="accent5"/>
                </a:solidFill>
                <a:latin typeface="Georgia"/>
                <a:ea typeface="Georgia"/>
                <a:cs typeface="Georgia"/>
                <a:sym typeface="Georgia"/>
              </a:rPr>
              <a:t>correlate</a:t>
            </a:r>
            <a:r>
              <a:rPr lang="en">
                <a:solidFill>
                  <a:schemeClr val="accent5"/>
                </a:solidFill>
                <a:latin typeface="Georgia"/>
                <a:ea typeface="Georgia"/>
                <a:cs typeface="Georgia"/>
                <a:sym typeface="Georgia"/>
              </a:rPr>
              <a:t> with success? </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solidFill>
                <a:schemeClr val="accent5"/>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sp>
        <p:nvSpPr>
          <p:cNvPr id="138" name="Google Shape;138;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457200" lvl="0" indent="-342900" algn="l" rtl="0">
              <a:spcBef>
                <a:spcPts val="1600"/>
              </a:spcBef>
              <a:spcAft>
                <a:spcPts val="0"/>
              </a:spcAft>
              <a:buSzPts val="1800"/>
              <a:buChar char="-"/>
            </a:pPr>
            <a:endParaRPr/>
          </a:p>
        </p:txBody>
      </p:sp>
      <p:pic>
        <p:nvPicPr>
          <p:cNvPr id="139" name="Google Shape;139;p31"/>
          <p:cNvPicPr preferRelativeResize="0"/>
          <p:nvPr/>
        </p:nvPicPr>
        <p:blipFill>
          <a:blip r:embed="rId3">
            <a:alphaModFix/>
          </a:blip>
          <a:stretch>
            <a:fillRect/>
          </a:stretch>
        </p:blipFill>
        <p:spPr>
          <a:xfrm>
            <a:off x="0" y="1219125"/>
            <a:ext cx="9144000" cy="3619500"/>
          </a:xfrm>
          <a:prstGeom prst="rect">
            <a:avLst/>
          </a:prstGeom>
          <a:noFill/>
          <a:ln>
            <a:noFill/>
          </a:ln>
        </p:spPr>
      </p:pic>
      <p:sp>
        <p:nvSpPr>
          <p:cNvPr id="140" name="Google Shape;140;p31"/>
          <p:cNvSpPr/>
          <p:nvPr/>
        </p:nvSpPr>
        <p:spPr>
          <a:xfrm>
            <a:off x="1239750" y="1700825"/>
            <a:ext cx="239100" cy="9297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1"/>
          <p:cNvSpPr/>
          <p:nvPr/>
        </p:nvSpPr>
        <p:spPr>
          <a:xfrm>
            <a:off x="1932175" y="1877875"/>
            <a:ext cx="239100" cy="659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1"/>
          <p:cNvSpPr/>
          <p:nvPr/>
        </p:nvSpPr>
        <p:spPr>
          <a:xfrm>
            <a:off x="4452450" y="2099200"/>
            <a:ext cx="478800" cy="12264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1"/>
          <p:cNvSpPr/>
          <p:nvPr/>
        </p:nvSpPr>
        <p:spPr>
          <a:xfrm>
            <a:off x="7212425" y="1824750"/>
            <a:ext cx="194700" cy="10602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1"/>
          <p:cNvSpPr/>
          <p:nvPr/>
        </p:nvSpPr>
        <p:spPr>
          <a:xfrm>
            <a:off x="6727425" y="1345350"/>
            <a:ext cx="194700" cy="1594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1"/>
          <p:cNvSpPr/>
          <p:nvPr/>
        </p:nvSpPr>
        <p:spPr>
          <a:xfrm>
            <a:off x="8353500" y="1877875"/>
            <a:ext cx="194700" cy="77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1"/>
          <p:cNvSpPr/>
          <p:nvPr/>
        </p:nvSpPr>
        <p:spPr>
          <a:xfrm>
            <a:off x="8548200" y="2161175"/>
            <a:ext cx="194700" cy="1312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Is effect of duration / total funding consistent before and after the “dot com bubble”?</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solidFill>
                <a:schemeClr val="accent5"/>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sp>
        <p:nvSpPr>
          <p:cNvPr id="152" name="Google Shape;152;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457200" lvl="0" indent="0" algn="l" rtl="0">
              <a:spcBef>
                <a:spcPts val="1600"/>
              </a:spcBef>
              <a:spcAft>
                <a:spcPts val="1600"/>
              </a:spcAft>
              <a:buNone/>
            </a:pPr>
            <a:endParaRPr/>
          </a:p>
        </p:txBody>
      </p:sp>
      <p:pic>
        <p:nvPicPr>
          <p:cNvPr id="153" name="Google Shape;153;p32"/>
          <p:cNvPicPr preferRelativeResize="0"/>
          <p:nvPr/>
        </p:nvPicPr>
        <p:blipFill>
          <a:blip r:embed="rId3">
            <a:alphaModFix/>
          </a:blip>
          <a:stretch>
            <a:fillRect/>
          </a:stretch>
        </p:blipFill>
        <p:spPr>
          <a:xfrm>
            <a:off x="665875" y="1548175"/>
            <a:ext cx="7576450" cy="3120425"/>
          </a:xfrm>
          <a:prstGeom prst="rect">
            <a:avLst/>
          </a:prstGeom>
          <a:noFill/>
          <a:ln>
            <a:noFill/>
          </a:ln>
        </p:spPr>
      </p:pic>
      <p:sp>
        <p:nvSpPr>
          <p:cNvPr id="154" name="Google Shape;154;p32"/>
          <p:cNvSpPr/>
          <p:nvPr/>
        </p:nvSpPr>
        <p:spPr>
          <a:xfrm>
            <a:off x="1682400" y="1952450"/>
            <a:ext cx="239100" cy="9297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2"/>
          <p:cNvSpPr/>
          <p:nvPr/>
        </p:nvSpPr>
        <p:spPr>
          <a:xfrm>
            <a:off x="2250900" y="2009450"/>
            <a:ext cx="239100" cy="8157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2"/>
          <p:cNvSpPr/>
          <p:nvPr/>
        </p:nvSpPr>
        <p:spPr>
          <a:xfrm>
            <a:off x="4334550" y="2276925"/>
            <a:ext cx="419700" cy="12906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Which startup features </a:t>
            </a:r>
            <a:r>
              <a:rPr lang="en" i="1">
                <a:solidFill>
                  <a:schemeClr val="accent5"/>
                </a:solidFill>
                <a:latin typeface="Georgia"/>
                <a:ea typeface="Georgia"/>
                <a:cs typeface="Georgia"/>
                <a:sym typeface="Georgia"/>
              </a:rPr>
              <a:t>predict</a:t>
            </a:r>
            <a:r>
              <a:rPr lang="en">
                <a:solidFill>
                  <a:schemeClr val="accent5"/>
                </a:solidFill>
                <a:latin typeface="Georgia"/>
                <a:ea typeface="Georgia"/>
                <a:cs typeface="Georgia"/>
                <a:sym typeface="Georgia"/>
              </a:rPr>
              <a:t> success? </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sp>
        <p:nvSpPr>
          <p:cNvPr id="162" name="Google Shape;162;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Font typeface="Georgia"/>
              <a:buChar char="-"/>
            </a:pPr>
            <a:r>
              <a:rPr lang="en" sz="1600">
                <a:latin typeface="Georgia"/>
                <a:ea typeface="Georgia"/>
                <a:cs typeface="Georgia"/>
                <a:sym typeface="Georgia"/>
              </a:rPr>
              <a:t>Restricted dataset to startups whose status was not yet determined by year 2 (or year 4)</a:t>
            </a:r>
            <a:endParaRPr sz="1600">
              <a:latin typeface="Georgia"/>
              <a:ea typeface="Georgia"/>
              <a:cs typeface="Georgia"/>
              <a:sym typeface="Georgia"/>
            </a:endParaRPr>
          </a:p>
          <a:p>
            <a:pPr marL="457200" lvl="0" indent="-330200" algn="l" rtl="0">
              <a:spcBef>
                <a:spcPts val="0"/>
              </a:spcBef>
              <a:spcAft>
                <a:spcPts val="0"/>
              </a:spcAft>
              <a:buSzPts val="1600"/>
              <a:buFont typeface="Georgia"/>
              <a:buChar char="-"/>
            </a:pPr>
            <a:r>
              <a:rPr lang="en" sz="1600">
                <a:latin typeface="Georgia"/>
                <a:ea typeface="Georgia"/>
                <a:cs typeface="Georgia"/>
                <a:sym typeface="Georgia"/>
              </a:rPr>
              <a:t>Use features before year 2 (or year 4) to predict success after year 2 (or year 4) </a:t>
            </a:r>
            <a:endParaRPr sz="1600">
              <a:latin typeface="Georgia"/>
              <a:ea typeface="Georgia"/>
              <a:cs typeface="Georgia"/>
              <a:sym typeface="Georgia"/>
            </a:endParaRPr>
          </a:p>
          <a:p>
            <a:pPr marL="914400" lvl="1" indent="-330200" algn="l" rtl="0">
              <a:spcBef>
                <a:spcPts val="0"/>
              </a:spcBef>
              <a:spcAft>
                <a:spcPts val="0"/>
              </a:spcAft>
              <a:buSzPts val="1600"/>
              <a:buFont typeface="Georgia"/>
              <a:buChar char="-"/>
            </a:pPr>
            <a:r>
              <a:rPr lang="en" sz="1600">
                <a:latin typeface="Georgia"/>
                <a:ea typeface="Georgia"/>
                <a:cs typeface="Georgia"/>
                <a:sym typeface="Georgia"/>
              </a:rPr>
              <a:t>Number of rounds before year 2 (or year 4)</a:t>
            </a:r>
            <a:endParaRPr sz="1600">
              <a:latin typeface="Georgia"/>
              <a:ea typeface="Georgia"/>
              <a:cs typeface="Georgia"/>
              <a:sym typeface="Georgia"/>
            </a:endParaRPr>
          </a:p>
          <a:p>
            <a:pPr marL="914400" lvl="1" indent="-330200" algn="l" rtl="0">
              <a:spcBef>
                <a:spcPts val="0"/>
              </a:spcBef>
              <a:spcAft>
                <a:spcPts val="0"/>
              </a:spcAft>
              <a:buSzPts val="1600"/>
              <a:buFont typeface="Georgia"/>
              <a:buChar char="-"/>
            </a:pPr>
            <a:r>
              <a:rPr lang="en" sz="1600">
                <a:latin typeface="Georgia"/>
                <a:ea typeface="Georgia"/>
                <a:cs typeface="Georgia"/>
                <a:sym typeface="Georgia"/>
              </a:rPr>
              <a:t>Investment amount in year 0 and year 1 (and year 2 and year 3)</a:t>
            </a:r>
            <a:endParaRPr sz="1600">
              <a:latin typeface="Georgia"/>
              <a:ea typeface="Georgia"/>
              <a:cs typeface="Georgia"/>
              <a:sym typeface="Georgia"/>
            </a:endParaRPr>
          </a:p>
          <a:p>
            <a:pPr marL="914400" lvl="1" indent="-330200" algn="l" rtl="0">
              <a:spcBef>
                <a:spcPts val="0"/>
              </a:spcBef>
              <a:spcAft>
                <a:spcPts val="0"/>
              </a:spcAft>
              <a:buSzPts val="1600"/>
              <a:buFont typeface="Georgia"/>
              <a:buChar char="-"/>
            </a:pPr>
            <a:r>
              <a:rPr lang="en" sz="1600">
                <a:latin typeface="Georgia"/>
                <a:ea typeface="Georgia"/>
                <a:cs typeface="Georgia"/>
                <a:sym typeface="Georgia"/>
              </a:rPr>
              <a:t>Sector (Manufacturing, Services, Unclassified)</a:t>
            </a:r>
            <a:endParaRPr sz="1600">
              <a:latin typeface="Georgia"/>
              <a:ea typeface="Georgia"/>
              <a:cs typeface="Georgia"/>
              <a:sym typeface="Georgia"/>
            </a:endParaRPr>
          </a:p>
          <a:p>
            <a:pPr marL="457200" lvl="0" indent="-330200" algn="l" rtl="0">
              <a:spcBef>
                <a:spcPts val="0"/>
              </a:spcBef>
              <a:spcAft>
                <a:spcPts val="0"/>
              </a:spcAft>
              <a:buSzPts val="1600"/>
              <a:buFont typeface="Georgia"/>
              <a:buChar char="-"/>
            </a:pPr>
            <a:r>
              <a:rPr lang="en" sz="1600">
                <a:latin typeface="Georgia"/>
                <a:ea typeface="Georgia"/>
                <a:cs typeface="Georgia"/>
                <a:sym typeface="Georgia"/>
              </a:rPr>
              <a:t>Used logistic regression as baseline model </a:t>
            </a:r>
            <a:endParaRPr sz="1600">
              <a:latin typeface="Georgia"/>
              <a:ea typeface="Georgia"/>
              <a:cs typeface="Georgia"/>
              <a:sym typeface="Georgia"/>
            </a:endParaRPr>
          </a:p>
        </p:txBody>
      </p:sp>
      <p:pic>
        <p:nvPicPr>
          <p:cNvPr id="163" name="Google Shape;163;p33"/>
          <p:cNvPicPr preferRelativeResize="0"/>
          <p:nvPr/>
        </p:nvPicPr>
        <p:blipFill>
          <a:blip r:embed="rId3">
            <a:alphaModFix/>
          </a:blip>
          <a:stretch>
            <a:fillRect/>
          </a:stretch>
        </p:blipFill>
        <p:spPr>
          <a:xfrm>
            <a:off x="5959825" y="2966475"/>
            <a:ext cx="1548145" cy="422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Which startup features </a:t>
            </a:r>
            <a:r>
              <a:rPr lang="en" i="1">
                <a:solidFill>
                  <a:schemeClr val="accent5"/>
                </a:solidFill>
                <a:latin typeface="Georgia"/>
                <a:ea typeface="Georgia"/>
                <a:cs typeface="Georgia"/>
                <a:sym typeface="Georgia"/>
              </a:rPr>
              <a:t>predict</a:t>
            </a:r>
            <a:r>
              <a:rPr lang="en">
                <a:solidFill>
                  <a:schemeClr val="accent5"/>
                </a:solidFill>
                <a:latin typeface="Georgia"/>
                <a:ea typeface="Georgia"/>
                <a:cs typeface="Georgia"/>
                <a:sym typeface="Georgia"/>
              </a:rPr>
              <a:t> success after 2 yrs? </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pic>
        <p:nvPicPr>
          <p:cNvPr id="169" name="Google Shape;169;p34"/>
          <p:cNvPicPr preferRelativeResize="0"/>
          <p:nvPr/>
        </p:nvPicPr>
        <p:blipFill>
          <a:blip r:embed="rId3">
            <a:alphaModFix/>
          </a:blip>
          <a:stretch>
            <a:fillRect/>
          </a:stretch>
        </p:blipFill>
        <p:spPr>
          <a:xfrm>
            <a:off x="311700" y="1416100"/>
            <a:ext cx="7781899" cy="3292342"/>
          </a:xfrm>
          <a:prstGeom prst="rect">
            <a:avLst/>
          </a:prstGeom>
          <a:noFill/>
          <a:ln>
            <a:noFill/>
          </a:ln>
        </p:spPr>
      </p:pic>
      <p:sp>
        <p:nvSpPr>
          <p:cNvPr id="170" name="Google Shape;170;p34"/>
          <p:cNvSpPr/>
          <p:nvPr/>
        </p:nvSpPr>
        <p:spPr>
          <a:xfrm>
            <a:off x="3605400" y="1685225"/>
            <a:ext cx="239100" cy="8157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4"/>
          <p:cNvSpPr/>
          <p:nvPr/>
        </p:nvSpPr>
        <p:spPr>
          <a:xfrm>
            <a:off x="1000700" y="2132650"/>
            <a:ext cx="163200" cy="4392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Which startup features </a:t>
            </a:r>
            <a:r>
              <a:rPr lang="en" i="1">
                <a:solidFill>
                  <a:schemeClr val="accent5"/>
                </a:solidFill>
                <a:latin typeface="Georgia"/>
                <a:ea typeface="Georgia"/>
                <a:cs typeface="Georgia"/>
                <a:sym typeface="Georgia"/>
              </a:rPr>
              <a:t>predict</a:t>
            </a:r>
            <a:r>
              <a:rPr lang="en">
                <a:solidFill>
                  <a:schemeClr val="accent5"/>
                </a:solidFill>
                <a:latin typeface="Georgia"/>
                <a:ea typeface="Georgia"/>
                <a:cs typeface="Georgia"/>
                <a:sym typeface="Georgia"/>
              </a:rPr>
              <a:t> success after 4 years? </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pic>
        <p:nvPicPr>
          <p:cNvPr id="177" name="Google Shape;177;p35"/>
          <p:cNvPicPr preferRelativeResize="0"/>
          <p:nvPr/>
        </p:nvPicPr>
        <p:blipFill>
          <a:blip r:embed="rId3">
            <a:alphaModFix/>
          </a:blip>
          <a:stretch>
            <a:fillRect/>
          </a:stretch>
        </p:blipFill>
        <p:spPr>
          <a:xfrm>
            <a:off x="223250" y="1240950"/>
            <a:ext cx="8013076" cy="3390150"/>
          </a:xfrm>
          <a:prstGeom prst="rect">
            <a:avLst/>
          </a:prstGeom>
          <a:noFill/>
          <a:ln>
            <a:noFill/>
          </a:ln>
        </p:spPr>
      </p:pic>
      <p:sp>
        <p:nvSpPr>
          <p:cNvPr id="178" name="Google Shape;178;p35"/>
          <p:cNvSpPr/>
          <p:nvPr/>
        </p:nvSpPr>
        <p:spPr>
          <a:xfrm>
            <a:off x="1879075" y="1658675"/>
            <a:ext cx="239100" cy="8157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5"/>
          <p:cNvSpPr/>
          <p:nvPr/>
        </p:nvSpPr>
        <p:spPr>
          <a:xfrm>
            <a:off x="4793575" y="1589750"/>
            <a:ext cx="239100" cy="8157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5"/>
          <p:cNvSpPr/>
          <p:nvPr/>
        </p:nvSpPr>
        <p:spPr>
          <a:xfrm>
            <a:off x="944500" y="2031650"/>
            <a:ext cx="189000" cy="4836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Which startup features </a:t>
            </a:r>
            <a:r>
              <a:rPr lang="en" i="1">
                <a:solidFill>
                  <a:schemeClr val="accent5"/>
                </a:solidFill>
                <a:latin typeface="Georgia"/>
                <a:ea typeface="Georgia"/>
                <a:cs typeface="Georgia"/>
                <a:sym typeface="Georgia"/>
              </a:rPr>
              <a:t>predict</a:t>
            </a:r>
            <a:r>
              <a:rPr lang="en">
                <a:solidFill>
                  <a:schemeClr val="accent5"/>
                </a:solidFill>
                <a:latin typeface="Georgia"/>
                <a:ea typeface="Georgia"/>
                <a:cs typeface="Georgia"/>
                <a:sym typeface="Georgia"/>
              </a:rPr>
              <a:t> success? </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sp>
        <p:nvSpPr>
          <p:cNvPr id="186" name="Google Shape;186;p36"/>
          <p:cNvSpPr txBox="1">
            <a:spLocks noGrp="1"/>
          </p:cNvSpPr>
          <p:nvPr>
            <p:ph type="body" idx="1"/>
          </p:nvPr>
        </p:nvSpPr>
        <p:spPr>
          <a:xfrm>
            <a:off x="1285875" y="1239350"/>
            <a:ext cx="6816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Georgia"/>
                <a:ea typeface="Georgia"/>
                <a:cs typeface="Georgia"/>
                <a:sym typeface="Georgia"/>
              </a:rPr>
              <a:t>Take home: </a:t>
            </a:r>
            <a:endParaRPr>
              <a:latin typeface="Georgia"/>
              <a:ea typeface="Georgia"/>
              <a:cs typeface="Georgia"/>
              <a:sym typeface="Georgia"/>
            </a:endParaRPr>
          </a:p>
          <a:p>
            <a:pPr marL="0" lvl="0" indent="0" algn="l" rtl="0">
              <a:spcBef>
                <a:spcPts val="1600"/>
              </a:spcBef>
              <a:spcAft>
                <a:spcPts val="1600"/>
              </a:spcAft>
              <a:buNone/>
            </a:pPr>
            <a:r>
              <a:rPr lang="en" i="1">
                <a:latin typeface="Georgia"/>
                <a:ea typeface="Georgia"/>
                <a:cs typeface="Georgia"/>
                <a:sym typeface="Georgia"/>
              </a:rPr>
              <a:t>Fewer </a:t>
            </a:r>
            <a:r>
              <a:rPr lang="en">
                <a:latin typeface="Georgia"/>
                <a:ea typeface="Georgia"/>
                <a:cs typeface="Georgia"/>
                <a:sym typeface="Georgia"/>
              </a:rPr>
              <a:t>early rounds of investment and </a:t>
            </a:r>
            <a:r>
              <a:rPr lang="en" i="1">
                <a:latin typeface="Georgia"/>
                <a:ea typeface="Georgia"/>
                <a:cs typeface="Georgia"/>
                <a:sym typeface="Georgia"/>
              </a:rPr>
              <a:t>more </a:t>
            </a:r>
            <a:r>
              <a:rPr lang="en">
                <a:latin typeface="Georgia"/>
                <a:ea typeface="Georgia"/>
                <a:cs typeface="Georgia"/>
                <a:sym typeface="Georgia"/>
              </a:rPr>
              <a:t>funding in those rounds is predictive of future success.</a:t>
            </a:r>
            <a:endParaRPr>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7"/>
          <p:cNvSpPr txBox="1">
            <a:spLocks noGrp="1"/>
          </p:cNvSpPr>
          <p:nvPr>
            <p:ph type="title"/>
          </p:nvPr>
        </p:nvSpPr>
        <p:spPr>
          <a:xfrm>
            <a:off x="311700" y="258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Machine learning methods</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sz="1800">
              <a:solidFill>
                <a:schemeClr val="accent5"/>
              </a:solidFill>
              <a:latin typeface="Georgia"/>
              <a:ea typeface="Georgia"/>
              <a:cs typeface="Georgia"/>
              <a:sym typeface="Georgia"/>
            </a:endParaRPr>
          </a:p>
          <a:p>
            <a:pPr marL="457200" lvl="0" indent="0" algn="l" rtl="0">
              <a:lnSpc>
                <a:spcPct val="150000"/>
              </a:lnSpc>
              <a:spcBef>
                <a:spcPts val="0"/>
              </a:spcBef>
              <a:spcAft>
                <a:spcPts val="0"/>
              </a:spcAft>
              <a:buNone/>
            </a:pPr>
            <a:r>
              <a:rPr lang="en" sz="1800">
                <a:solidFill>
                  <a:schemeClr val="dk2"/>
                </a:solidFill>
                <a:latin typeface="Georgia"/>
                <a:ea typeface="Georgia"/>
                <a:cs typeface="Georgia"/>
                <a:sym typeface="Georgia"/>
              </a:rPr>
              <a:t>Can we improve the model performance by using ML methods?</a:t>
            </a:r>
            <a:endParaRPr sz="1800">
              <a:solidFill>
                <a:schemeClr val="dk2"/>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sp>
        <p:nvSpPr>
          <p:cNvPr id="192" name="Google Shape;192;p37"/>
          <p:cNvSpPr txBox="1"/>
          <p:nvPr/>
        </p:nvSpPr>
        <p:spPr>
          <a:xfrm>
            <a:off x="842775" y="1515475"/>
            <a:ext cx="7220100" cy="2801700"/>
          </a:xfrm>
          <a:prstGeom prst="rect">
            <a:avLst/>
          </a:prstGeom>
          <a:solidFill>
            <a:srgbClr val="FDFDFD">
              <a:alpha val="97690"/>
            </a:srgbClr>
          </a:solidFill>
          <a:ln>
            <a:noFill/>
          </a:ln>
        </p:spPr>
        <p:txBody>
          <a:bodyPr spcFirstLastPara="1" wrap="square" lIns="91425" tIns="91425" rIns="91425" bIns="91425" anchor="t" anchorCtr="0">
            <a:noAutofit/>
          </a:bodyPr>
          <a:lstStyle/>
          <a:p>
            <a:pPr marL="0" lvl="0" indent="457200" algn="l" rtl="0">
              <a:lnSpc>
                <a:spcPct val="200000"/>
              </a:lnSpc>
              <a:spcBef>
                <a:spcPts val="0"/>
              </a:spcBef>
              <a:spcAft>
                <a:spcPts val="0"/>
              </a:spcAft>
              <a:buNone/>
            </a:pPr>
            <a:r>
              <a:rPr lang="en" sz="1800">
                <a:solidFill>
                  <a:schemeClr val="dk2"/>
                </a:solidFill>
                <a:latin typeface="Georgia"/>
                <a:ea typeface="Georgia"/>
                <a:cs typeface="Georgia"/>
                <a:sym typeface="Georgia"/>
              </a:rPr>
              <a:t>(Original Parameter Settings)</a:t>
            </a:r>
            <a:endParaRPr sz="1800">
              <a:solidFill>
                <a:schemeClr val="dk2"/>
              </a:solidFill>
              <a:latin typeface="Georgia"/>
              <a:ea typeface="Georgia"/>
              <a:cs typeface="Georgia"/>
              <a:sym typeface="Georgia"/>
            </a:endParaRPr>
          </a:p>
          <a:p>
            <a:pPr marL="457200" lvl="0" indent="-342900" algn="l" rtl="0">
              <a:lnSpc>
                <a:spcPct val="200000"/>
              </a:lnSpc>
              <a:spcBef>
                <a:spcPts val="0"/>
              </a:spcBef>
              <a:spcAft>
                <a:spcPts val="0"/>
              </a:spcAft>
              <a:buClr>
                <a:schemeClr val="dk2"/>
              </a:buClr>
              <a:buSzPts val="1800"/>
              <a:buFont typeface="Georgia"/>
              <a:buChar char="-"/>
            </a:pPr>
            <a:r>
              <a:rPr lang="en" sz="1800" b="1">
                <a:solidFill>
                  <a:schemeClr val="dk2"/>
                </a:solidFill>
                <a:latin typeface="Georgia"/>
                <a:ea typeface="Georgia"/>
                <a:cs typeface="Georgia"/>
                <a:sym typeface="Georgia"/>
              </a:rPr>
              <a:t>K-Neighbors(n_neighbors=5, p=2=euclidean distance)</a:t>
            </a:r>
            <a:endParaRPr sz="1800" b="1">
              <a:solidFill>
                <a:schemeClr val="dk2"/>
              </a:solidFill>
              <a:latin typeface="Georgia"/>
              <a:ea typeface="Georgia"/>
              <a:cs typeface="Georgia"/>
              <a:sym typeface="Georgia"/>
            </a:endParaRPr>
          </a:p>
          <a:p>
            <a:pPr marL="457200" lvl="0" indent="-342900" algn="l" rtl="0">
              <a:lnSpc>
                <a:spcPct val="200000"/>
              </a:lnSpc>
              <a:spcBef>
                <a:spcPts val="0"/>
              </a:spcBef>
              <a:spcAft>
                <a:spcPts val="0"/>
              </a:spcAft>
              <a:buClr>
                <a:schemeClr val="dk2"/>
              </a:buClr>
              <a:buSzPts val="1800"/>
              <a:buFont typeface="Georgia"/>
              <a:buChar char="-"/>
            </a:pPr>
            <a:r>
              <a:rPr lang="en" sz="1800" b="1">
                <a:solidFill>
                  <a:schemeClr val="dk2"/>
                </a:solidFill>
                <a:latin typeface="Georgia"/>
                <a:ea typeface="Georgia"/>
                <a:cs typeface="Georgia"/>
                <a:sym typeface="Georgia"/>
              </a:rPr>
              <a:t>Support Vector Machine(kernel=’rbf’, C=1)</a:t>
            </a:r>
            <a:endParaRPr sz="1800" b="1">
              <a:solidFill>
                <a:schemeClr val="dk2"/>
              </a:solidFill>
              <a:latin typeface="Georgia"/>
              <a:ea typeface="Georgia"/>
              <a:cs typeface="Georgia"/>
              <a:sym typeface="Georgia"/>
            </a:endParaRPr>
          </a:p>
          <a:p>
            <a:pPr marL="457200" lvl="0" indent="-342900" algn="l" rtl="0">
              <a:lnSpc>
                <a:spcPct val="200000"/>
              </a:lnSpc>
              <a:spcBef>
                <a:spcPts val="0"/>
              </a:spcBef>
              <a:spcAft>
                <a:spcPts val="0"/>
              </a:spcAft>
              <a:buClr>
                <a:schemeClr val="dk2"/>
              </a:buClr>
              <a:buSzPts val="1800"/>
              <a:buFont typeface="Georgia"/>
              <a:buChar char="-"/>
            </a:pPr>
            <a:r>
              <a:rPr lang="en" sz="1800" b="1">
                <a:solidFill>
                  <a:schemeClr val="dk2"/>
                </a:solidFill>
                <a:latin typeface="Georgia"/>
                <a:ea typeface="Georgia"/>
                <a:cs typeface="Georgia"/>
                <a:sym typeface="Georgia"/>
              </a:rPr>
              <a:t>Random Forest (n_estimator=10, criterion=’entropy’)</a:t>
            </a:r>
            <a:endParaRPr sz="1800" b="1">
              <a:solidFill>
                <a:schemeClr val="dk2"/>
              </a:solidFill>
              <a:latin typeface="Georgia"/>
              <a:ea typeface="Georgia"/>
              <a:cs typeface="Georgia"/>
              <a:sym typeface="Georgia"/>
            </a:endParaRPr>
          </a:p>
          <a:p>
            <a:pPr marL="457200" lvl="0" indent="-342900" algn="l" rtl="0">
              <a:lnSpc>
                <a:spcPct val="200000"/>
              </a:lnSpc>
              <a:spcBef>
                <a:spcPts val="0"/>
              </a:spcBef>
              <a:spcAft>
                <a:spcPts val="0"/>
              </a:spcAft>
              <a:buClr>
                <a:schemeClr val="dk2"/>
              </a:buClr>
              <a:buSzPts val="1800"/>
              <a:buFont typeface="Georgia"/>
              <a:buChar char="-"/>
            </a:pPr>
            <a:r>
              <a:rPr lang="en" sz="1800" b="1">
                <a:solidFill>
                  <a:schemeClr val="dk2"/>
                </a:solidFill>
                <a:latin typeface="Georgia"/>
                <a:ea typeface="Georgia"/>
                <a:cs typeface="Georgia"/>
                <a:sym typeface="Georgia"/>
              </a:rPr>
              <a:t>XGBoost (n_estimator=10, max_depth=3)</a:t>
            </a:r>
            <a:endParaRPr sz="1800" b="1">
              <a:solidFill>
                <a:schemeClr val="dk2"/>
              </a:solidFill>
              <a:latin typeface="Georgia"/>
              <a:ea typeface="Georgia"/>
              <a:cs typeface="Georgia"/>
              <a:sym typeface="Georgia"/>
            </a:endParaRPr>
          </a:p>
          <a:p>
            <a:pPr marL="457200" lvl="0" indent="0" algn="l" rtl="0">
              <a:lnSpc>
                <a:spcPct val="150000"/>
              </a:lnSpc>
              <a:spcBef>
                <a:spcPts val="0"/>
              </a:spcBef>
              <a:spcAft>
                <a:spcPts val="0"/>
              </a:spcAft>
              <a:buNone/>
            </a:pPr>
            <a:endParaRPr sz="1600">
              <a:solidFill>
                <a:schemeClr val="dk2"/>
              </a:solidFill>
              <a:latin typeface="Georgia"/>
              <a:ea typeface="Georgia"/>
              <a:cs typeface="Georgia"/>
              <a:sym typeface="Georgia"/>
            </a:endParaRPr>
          </a:p>
          <a:p>
            <a:pPr marL="457200" lvl="0" indent="0" algn="l" rtl="0">
              <a:lnSpc>
                <a:spcPct val="150000"/>
              </a:lnSpc>
              <a:spcBef>
                <a:spcPts val="0"/>
              </a:spcBef>
              <a:spcAft>
                <a:spcPts val="0"/>
              </a:spcAft>
              <a:buNone/>
            </a:pPr>
            <a:endParaRPr sz="1800">
              <a:latin typeface="Georgia"/>
              <a:ea typeface="Georgia"/>
              <a:cs typeface="Georgia"/>
              <a:sym typeface="Georgia"/>
            </a:endParaRPr>
          </a:p>
          <a:p>
            <a:pPr marL="0" lvl="0" indent="0" algn="l" rtl="0">
              <a:lnSpc>
                <a:spcPct val="150000"/>
              </a:lnSpc>
              <a:spcBef>
                <a:spcPts val="0"/>
              </a:spcBef>
              <a:spcAft>
                <a:spcPts val="0"/>
              </a:spcAft>
              <a:buNone/>
            </a:pPr>
            <a:endParaRPr sz="1600">
              <a:latin typeface="Georgia"/>
              <a:ea typeface="Georgia"/>
              <a:cs typeface="Georgia"/>
              <a:sym typeface="Georgia"/>
            </a:endParaRPr>
          </a:p>
          <a:p>
            <a:pPr marL="0" lvl="0" indent="0" algn="l" rtl="0">
              <a:lnSpc>
                <a:spcPct val="150000"/>
              </a:lnSpc>
              <a:spcBef>
                <a:spcPts val="0"/>
              </a:spcBef>
              <a:spcAft>
                <a:spcPts val="0"/>
              </a:spcAft>
              <a:buNone/>
            </a:pPr>
            <a:endParaRPr sz="1600">
              <a:latin typeface="Georgia"/>
              <a:ea typeface="Georgia"/>
              <a:cs typeface="Georgia"/>
              <a:sym typeface="Georgia"/>
            </a:endParaRPr>
          </a:p>
          <a:p>
            <a:pPr marL="0" lvl="0" indent="0" algn="l" rtl="0">
              <a:lnSpc>
                <a:spcPct val="150000"/>
              </a:lnSpc>
              <a:spcBef>
                <a:spcPts val="0"/>
              </a:spcBef>
              <a:spcAft>
                <a:spcPts val="0"/>
              </a:spcAft>
              <a:buNone/>
            </a:pPr>
            <a:endParaRPr sz="1600">
              <a:latin typeface="Georgia"/>
              <a:ea typeface="Georgia"/>
              <a:cs typeface="Georgia"/>
              <a:sym typeface="Georgia"/>
            </a:endParaRPr>
          </a:p>
          <a:p>
            <a:pPr marL="0" lvl="0" indent="0" algn="l" rtl="0">
              <a:lnSpc>
                <a:spcPct val="150000"/>
              </a:lnSpc>
              <a:spcBef>
                <a:spcPts val="0"/>
              </a:spcBef>
              <a:spcAft>
                <a:spcPts val="0"/>
              </a:spcAft>
              <a:buNone/>
            </a:pPr>
            <a:endParaRPr>
              <a:latin typeface="Georgia"/>
              <a:ea typeface="Georgia"/>
              <a:cs typeface="Georgia"/>
              <a:sym typeface="Georgia"/>
            </a:endParaRPr>
          </a:p>
          <a:p>
            <a:pPr marL="0" lvl="0" indent="0" algn="l" rtl="0">
              <a:lnSpc>
                <a:spcPct val="150000"/>
              </a:lnSpc>
              <a:spcBef>
                <a:spcPts val="0"/>
              </a:spcBef>
              <a:spcAft>
                <a:spcPts val="0"/>
              </a:spcAft>
              <a:buNone/>
            </a:pPr>
            <a:endParaRPr/>
          </a:p>
          <a:p>
            <a:pPr marL="0" lvl="0" indent="0" algn="l" rtl="0">
              <a:lnSpc>
                <a:spcPct val="150000"/>
              </a:lnSpc>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8"/>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Random forest - fine tuning</a:t>
            </a:r>
            <a:endParaRPr/>
          </a:p>
        </p:txBody>
      </p:sp>
      <p:sp>
        <p:nvSpPr>
          <p:cNvPr id="198" name="Google Shape;198;p38"/>
          <p:cNvSpPr txBox="1">
            <a:spLocks noGrp="1"/>
          </p:cNvSpPr>
          <p:nvPr>
            <p:ph type="body" idx="1"/>
          </p:nvPr>
        </p:nvSpPr>
        <p:spPr>
          <a:xfrm>
            <a:off x="387900" y="950125"/>
            <a:ext cx="3726300" cy="315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u="sng">
                <a:latin typeface="Georgia"/>
                <a:ea typeface="Georgia"/>
                <a:cs typeface="Georgia"/>
                <a:sym typeface="Georgia"/>
              </a:rPr>
              <a:t>Grid Search:</a:t>
            </a:r>
            <a:endParaRPr sz="1600" b="1" u="sng">
              <a:latin typeface="Georgia"/>
              <a:ea typeface="Georgia"/>
              <a:cs typeface="Georgia"/>
              <a:sym typeface="Georgia"/>
            </a:endParaRPr>
          </a:p>
          <a:p>
            <a:pPr marL="0" lvl="0" indent="0" algn="l" rtl="0">
              <a:lnSpc>
                <a:spcPct val="100000"/>
              </a:lnSpc>
              <a:spcBef>
                <a:spcPts val="1600"/>
              </a:spcBef>
              <a:spcAft>
                <a:spcPts val="0"/>
              </a:spcAft>
              <a:buNone/>
            </a:pPr>
            <a:r>
              <a:rPr lang="en" sz="1600" b="1">
                <a:latin typeface="Georgia"/>
                <a:ea typeface="Georgia"/>
                <a:cs typeface="Georgia"/>
                <a:sym typeface="Georgia"/>
              </a:rPr>
              <a:t>N_esitmator </a:t>
            </a:r>
            <a:r>
              <a:rPr lang="en" sz="1600">
                <a:latin typeface="Georgia"/>
                <a:ea typeface="Georgia"/>
                <a:cs typeface="Georgia"/>
                <a:sym typeface="Georgia"/>
              </a:rPr>
              <a:t>: [5,8,10,30,60,100]</a:t>
            </a:r>
            <a:endParaRPr sz="1600">
              <a:latin typeface="Georgia"/>
              <a:ea typeface="Georgia"/>
              <a:cs typeface="Georgia"/>
              <a:sym typeface="Georgia"/>
            </a:endParaRPr>
          </a:p>
          <a:p>
            <a:pPr marL="0" lvl="0" indent="0" algn="l" rtl="0">
              <a:lnSpc>
                <a:spcPct val="100000"/>
              </a:lnSpc>
              <a:spcBef>
                <a:spcPts val="1600"/>
              </a:spcBef>
              <a:spcAft>
                <a:spcPts val="0"/>
              </a:spcAft>
              <a:buNone/>
            </a:pPr>
            <a:r>
              <a:rPr lang="en" sz="1600" b="1">
                <a:latin typeface="Georgia"/>
                <a:ea typeface="Georgia"/>
                <a:cs typeface="Georgia"/>
                <a:sym typeface="Georgia"/>
              </a:rPr>
              <a:t>Max_depth </a:t>
            </a:r>
            <a:r>
              <a:rPr lang="en" sz="1600">
                <a:latin typeface="Georgia"/>
                <a:ea typeface="Georgia"/>
                <a:cs typeface="Georgia"/>
                <a:sym typeface="Georgia"/>
              </a:rPr>
              <a:t>: [3,5,8,10,30,50]</a:t>
            </a:r>
            <a:endParaRPr sz="1600">
              <a:latin typeface="Georgia"/>
              <a:ea typeface="Georgia"/>
              <a:cs typeface="Georgia"/>
              <a:sym typeface="Georgia"/>
            </a:endParaRPr>
          </a:p>
          <a:p>
            <a:pPr marL="0" lvl="0" indent="0" algn="l" rtl="0">
              <a:lnSpc>
                <a:spcPct val="100000"/>
              </a:lnSpc>
              <a:spcBef>
                <a:spcPts val="1600"/>
              </a:spcBef>
              <a:spcAft>
                <a:spcPts val="0"/>
              </a:spcAft>
              <a:buNone/>
            </a:pPr>
            <a:r>
              <a:rPr lang="en" sz="1600" b="1">
                <a:latin typeface="Georgia"/>
                <a:ea typeface="Georgia"/>
                <a:cs typeface="Georgia"/>
                <a:sym typeface="Georgia"/>
              </a:rPr>
              <a:t>Max_feature </a:t>
            </a:r>
            <a:r>
              <a:rPr lang="en" sz="1600">
                <a:latin typeface="Georgia"/>
                <a:ea typeface="Georgia"/>
                <a:cs typeface="Georgia"/>
                <a:sym typeface="Georgia"/>
              </a:rPr>
              <a:t>: [0.3,0.5,0.8]</a:t>
            </a:r>
            <a:endParaRPr sz="1600">
              <a:latin typeface="Georgia"/>
              <a:ea typeface="Georgia"/>
              <a:cs typeface="Georgia"/>
              <a:sym typeface="Georgia"/>
            </a:endParaRPr>
          </a:p>
          <a:p>
            <a:pPr marL="0" lvl="0" indent="0" algn="l" rtl="0">
              <a:lnSpc>
                <a:spcPct val="100000"/>
              </a:lnSpc>
              <a:spcBef>
                <a:spcPts val="1600"/>
              </a:spcBef>
              <a:spcAft>
                <a:spcPts val="0"/>
              </a:spcAft>
              <a:buNone/>
            </a:pPr>
            <a:r>
              <a:rPr lang="en" sz="1600" b="1">
                <a:latin typeface="Georgia"/>
                <a:ea typeface="Georgia"/>
                <a:cs typeface="Georgia"/>
                <a:sym typeface="Georgia"/>
              </a:rPr>
              <a:t>Min_samples_leaf</a:t>
            </a:r>
            <a:r>
              <a:rPr lang="en" sz="1600">
                <a:latin typeface="Georgia"/>
                <a:ea typeface="Georgia"/>
                <a:cs typeface="Georgia"/>
                <a:sym typeface="Georgia"/>
              </a:rPr>
              <a:t> : [1,2,3,4,5]</a:t>
            </a:r>
            <a:endParaRPr sz="1600">
              <a:latin typeface="Georgia"/>
              <a:ea typeface="Georgia"/>
              <a:cs typeface="Georgia"/>
              <a:sym typeface="Georgia"/>
            </a:endParaRPr>
          </a:p>
          <a:p>
            <a:pPr marL="0" lvl="0" indent="0" algn="l" rtl="0">
              <a:lnSpc>
                <a:spcPct val="100000"/>
              </a:lnSpc>
              <a:spcBef>
                <a:spcPts val="1600"/>
              </a:spcBef>
              <a:spcAft>
                <a:spcPts val="0"/>
              </a:spcAft>
              <a:buNone/>
            </a:pPr>
            <a:r>
              <a:rPr lang="en" sz="1600" b="1">
                <a:latin typeface="Georgia"/>
                <a:ea typeface="Georgia"/>
                <a:cs typeface="Georgia"/>
                <a:sym typeface="Georgia"/>
              </a:rPr>
              <a:t>Criterion</a:t>
            </a:r>
            <a:r>
              <a:rPr lang="en" sz="1600">
                <a:latin typeface="Georgia"/>
                <a:ea typeface="Georgia"/>
                <a:cs typeface="Georgia"/>
                <a:sym typeface="Georgia"/>
              </a:rPr>
              <a:t> : ["gini", "entropy"]</a:t>
            </a:r>
            <a:endParaRPr sz="1600">
              <a:latin typeface="Georgia"/>
              <a:ea typeface="Georgia"/>
              <a:cs typeface="Georgia"/>
              <a:sym typeface="Georgia"/>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
        <p:nvSpPr>
          <p:cNvPr id="199" name="Google Shape;199;p38"/>
          <p:cNvSpPr txBox="1"/>
          <p:nvPr/>
        </p:nvSpPr>
        <p:spPr>
          <a:xfrm>
            <a:off x="414550" y="4127475"/>
            <a:ext cx="8613600" cy="875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b="1">
                <a:solidFill>
                  <a:schemeClr val="accent5"/>
                </a:solidFill>
                <a:latin typeface="Georgia"/>
                <a:ea typeface="Georgia"/>
                <a:cs typeface="Georgia"/>
                <a:sym typeface="Georgia"/>
              </a:rPr>
              <a:t>RandomForestClassifier(n_estimators=60,   criterion=“entropy”, max_features = 0.8, min_samples_leaf=3, max_depth = 30)</a:t>
            </a:r>
            <a:endParaRPr sz="1600" b="1">
              <a:solidFill>
                <a:schemeClr val="accent5"/>
              </a:solidFill>
              <a:latin typeface="Georgia"/>
              <a:ea typeface="Georgia"/>
              <a:cs typeface="Georgia"/>
              <a:sym typeface="Georgia"/>
            </a:endParaRPr>
          </a:p>
          <a:p>
            <a:pPr marL="0" lvl="0" indent="0" algn="l" rtl="0">
              <a:lnSpc>
                <a:spcPct val="115000"/>
              </a:lnSpc>
              <a:spcBef>
                <a:spcPts val="1600"/>
              </a:spcBef>
              <a:spcAft>
                <a:spcPts val="0"/>
              </a:spcAft>
              <a:buNone/>
            </a:pPr>
            <a:endParaRPr sz="1800" b="1">
              <a:solidFill>
                <a:schemeClr val="dk2"/>
              </a:solidFill>
            </a:endParaRPr>
          </a:p>
          <a:p>
            <a:pPr marL="0" lvl="0" indent="0" algn="l" rtl="0">
              <a:spcBef>
                <a:spcPts val="1600"/>
              </a:spcBef>
              <a:spcAft>
                <a:spcPts val="0"/>
              </a:spcAft>
              <a:buNone/>
            </a:pPr>
            <a:endParaRPr/>
          </a:p>
        </p:txBody>
      </p:sp>
      <p:pic>
        <p:nvPicPr>
          <p:cNvPr id="200" name="Google Shape;200;p38"/>
          <p:cNvPicPr preferRelativeResize="0"/>
          <p:nvPr/>
        </p:nvPicPr>
        <p:blipFill>
          <a:blip r:embed="rId3">
            <a:alphaModFix/>
          </a:blip>
          <a:stretch>
            <a:fillRect/>
          </a:stretch>
        </p:blipFill>
        <p:spPr>
          <a:xfrm>
            <a:off x="3961800" y="1192425"/>
            <a:ext cx="5048875" cy="27586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XGBoost - fine tuning</a:t>
            </a:r>
            <a:endParaRPr>
              <a:solidFill>
                <a:schemeClr val="accent5"/>
              </a:solidFill>
              <a:latin typeface="Georgia"/>
              <a:ea typeface="Georgia"/>
              <a:cs typeface="Georgia"/>
              <a:sym typeface="Georgia"/>
            </a:endParaRPr>
          </a:p>
        </p:txBody>
      </p:sp>
      <p:sp>
        <p:nvSpPr>
          <p:cNvPr id="206" name="Google Shape;206;p39"/>
          <p:cNvSpPr txBox="1">
            <a:spLocks noGrp="1"/>
          </p:cNvSpPr>
          <p:nvPr>
            <p:ph type="body" idx="1"/>
          </p:nvPr>
        </p:nvSpPr>
        <p:spPr>
          <a:xfrm>
            <a:off x="311700" y="1501800"/>
            <a:ext cx="3726300" cy="213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u="sng">
                <a:latin typeface="Georgia"/>
                <a:ea typeface="Georgia"/>
                <a:cs typeface="Georgia"/>
                <a:sym typeface="Georgia"/>
              </a:rPr>
              <a:t>Grid Search:</a:t>
            </a:r>
            <a:endParaRPr b="1" u="sng">
              <a:latin typeface="Georgia"/>
              <a:ea typeface="Georgia"/>
              <a:cs typeface="Georgia"/>
              <a:sym typeface="Georgia"/>
            </a:endParaRPr>
          </a:p>
          <a:p>
            <a:pPr marL="0" lvl="0" indent="0" algn="l" rtl="0">
              <a:spcBef>
                <a:spcPts val="1600"/>
              </a:spcBef>
              <a:spcAft>
                <a:spcPts val="0"/>
              </a:spcAft>
              <a:buNone/>
            </a:pPr>
            <a:r>
              <a:rPr lang="en" b="1">
                <a:latin typeface="Georgia"/>
                <a:ea typeface="Georgia"/>
                <a:cs typeface="Georgia"/>
                <a:sym typeface="Georgia"/>
              </a:rPr>
              <a:t>N_esitmator</a:t>
            </a:r>
            <a:r>
              <a:rPr lang="en">
                <a:latin typeface="Georgia"/>
                <a:ea typeface="Georgia"/>
                <a:cs typeface="Georgia"/>
                <a:sym typeface="Georgia"/>
              </a:rPr>
              <a:t>: [30,60,100,300]</a:t>
            </a:r>
            <a:endParaRPr>
              <a:latin typeface="Georgia"/>
              <a:ea typeface="Georgia"/>
              <a:cs typeface="Georgia"/>
              <a:sym typeface="Georgia"/>
            </a:endParaRPr>
          </a:p>
          <a:p>
            <a:pPr marL="0" lvl="0" indent="0" algn="l" rtl="0">
              <a:spcBef>
                <a:spcPts val="1600"/>
              </a:spcBef>
              <a:spcAft>
                <a:spcPts val="0"/>
              </a:spcAft>
              <a:buNone/>
            </a:pPr>
            <a:r>
              <a:rPr lang="en" b="1">
                <a:latin typeface="Georgia"/>
                <a:ea typeface="Georgia"/>
                <a:cs typeface="Georgia"/>
                <a:sym typeface="Georgia"/>
              </a:rPr>
              <a:t>Max_depth</a:t>
            </a:r>
            <a:r>
              <a:rPr lang="en">
                <a:latin typeface="Georgia"/>
                <a:ea typeface="Georgia"/>
                <a:cs typeface="Georgia"/>
                <a:sym typeface="Georgia"/>
              </a:rPr>
              <a:t>:[3,4,5,6,8,10]</a:t>
            </a:r>
            <a:endParaRPr>
              <a:latin typeface="Georgia"/>
              <a:ea typeface="Georgia"/>
              <a:cs typeface="Georgia"/>
              <a:sym typeface="Georgia"/>
            </a:endParaRPr>
          </a:p>
          <a:p>
            <a:pPr marL="0" lvl="0" indent="0" algn="l" rtl="0">
              <a:spcBef>
                <a:spcPts val="1600"/>
              </a:spcBef>
              <a:spcAft>
                <a:spcPts val="0"/>
              </a:spcAft>
              <a:buNone/>
            </a:pPr>
            <a:r>
              <a:rPr lang="en" b="1">
                <a:latin typeface="Georgia"/>
                <a:ea typeface="Georgia"/>
                <a:cs typeface="Georgia"/>
                <a:sym typeface="Georgia"/>
              </a:rPr>
              <a:t>Learning_rate</a:t>
            </a:r>
            <a:r>
              <a:rPr lang="en">
                <a:latin typeface="Georgia"/>
                <a:ea typeface="Georgia"/>
                <a:cs typeface="Georgia"/>
                <a:sym typeface="Georgia"/>
              </a:rPr>
              <a:t>:[0.01,0.1]</a:t>
            </a:r>
            <a:endParaRPr>
              <a:latin typeface="Georgia"/>
              <a:ea typeface="Georgia"/>
              <a:cs typeface="Georgia"/>
              <a:sym typeface="Georgia"/>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pic>
        <p:nvPicPr>
          <p:cNvPr id="207" name="Google Shape;207;p39"/>
          <p:cNvPicPr preferRelativeResize="0"/>
          <p:nvPr/>
        </p:nvPicPr>
        <p:blipFill>
          <a:blip r:embed="rId3">
            <a:alphaModFix/>
          </a:blip>
          <a:stretch>
            <a:fillRect/>
          </a:stretch>
        </p:blipFill>
        <p:spPr>
          <a:xfrm>
            <a:off x="3965750" y="1170125"/>
            <a:ext cx="5012275" cy="3071350"/>
          </a:xfrm>
          <a:prstGeom prst="rect">
            <a:avLst/>
          </a:prstGeom>
          <a:noFill/>
          <a:ln>
            <a:noFill/>
          </a:ln>
        </p:spPr>
      </p:pic>
      <p:sp>
        <p:nvSpPr>
          <p:cNvPr id="208" name="Google Shape;208;p39"/>
          <p:cNvSpPr txBox="1"/>
          <p:nvPr/>
        </p:nvSpPr>
        <p:spPr>
          <a:xfrm>
            <a:off x="478475" y="4443750"/>
            <a:ext cx="8353800" cy="42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b="1">
                <a:solidFill>
                  <a:schemeClr val="accent5"/>
                </a:solidFill>
                <a:latin typeface="Georgia"/>
                <a:ea typeface="Georgia"/>
                <a:cs typeface="Georgia"/>
                <a:sym typeface="Georgia"/>
              </a:rPr>
              <a:t>XGBClassifier(n_estimators=30,  max_depth=4,  learning_rate=0.1)</a:t>
            </a:r>
            <a:endParaRPr sz="1600" b="1">
              <a:solidFill>
                <a:schemeClr val="accent5"/>
              </a:solidFill>
              <a:latin typeface="Georgia"/>
              <a:ea typeface="Georgia"/>
              <a:cs typeface="Georgia"/>
              <a:sym typeface="Georgia"/>
            </a:endParaRPr>
          </a:p>
          <a:p>
            <a:pPr marL="0" lvl="0" indent="0" algn="l" rtl="0">
              <a:spcBef>
                <a:spcPts val="160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40"/>
          <p:cNvSpPr txBox="1">
            <a:spLocks noGrp="1"/>
          </p:cNvSpPr>
          <p:nvPr>
            <p:ph type="title"/>
          </p:nvPr>
        </p:nvSpPr>
        <p:spPr>
          <a:xfrm>
            <a:off x="311700" y="4245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Model comparison</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pic>
        <p:nvPicPr>
          <p:cNvPr id="214" name="Google Shape;214;p40"/>
          <p:cNvPicPr preferRelativeResize="0"/>
          <p:nvPr/>
        </p:nvPicPr>
        <p:blipFill>
          <a:blip r:embed="rId3">
            <a:alphaModFix/>
          </a:blip>
          <a:stretch>
            <a:fillRect/>
          </a:stretch>
        </p:blipFill>
        <p:spPr>
          <a:xfrm>
            <a:off x="200013" y="1295463"/>
            <a:ext cx="4219575" cy="2524125"/>
          </a:xfrm>
          <a:prstGeom prst="rect">
            <a:avLst/>
          </a:prstGeom>
          <a:noFill/>
          <a:ln>
            <a:noFill/>
          </a:ln>
          <a:effectLst>
            <a:outerShdw blurRad="271463" dist="114300" dir="15180000" algn="bl" rotWithShape="0">
              <a:srgbClr val="000000">
                <a:alpha val="50000"/>
              </a:srgbClr>
            </a:outerShdw>
          </a:effectLst>
        </p:spPr>
      </p:pic>
      <p:pic>
        <p:nvPicPr>
          <p:cNvPr id="215" name="Google Shape;215;p40"/>
          <p:cNvPicPr preferRelativeResize="0"/>
          <p:nvPr/>
        </p:nvPicPr>
        <p:blipFill>
          <a:blip r:embed="rId4">
            <a:alphaModFix/>
          </a:blip>
          <a:stretch>
            <a:fillRect/>
          </a:stretch>
        </p:blipFill>
        <p:spPr>
          <a:xfrm>
            <a:off x="4686238" y="1309113"/>
            <a:ext cx="4219575" cy="2524125"/>
          </a:xfrm>
          <a:prstGeom prst="rect">
            <a:avLst/>
          </a:prstGeom>
          <a:noFill/>
          <a:ln>
            <a:noFill/>
          </a:ln>
          <a:effectLst>
            <a:outerShdw blurRad="271463" dist="114300" dir="15180000" algn="bl" rotWithShape="0">
              <a:srgbClr val="000000">
                <a:alpha val="50000"/>
              </a:srgbClr>
            </a:outerShdw>
          </a:effectLst>
        </p:spPr>
      </p:pic>
      <p:sp>
        <p:nvSpPr>
          <p:cNvPr id="216" name="Google Shape;216;p40"/>
          <p:cNvSpPr txBox="1"/>
          <p:nvPr/>
        </p:nvSpPr>
        <p:spPr>
          <a:xfrm>
            <a:off x="884400" y="4102300"/>
            <a:ext cx="7550700" cy="48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2"/>
                </a:solidFill>
                <a:latin typeface="Georgia"/>
                <a:ea typeface="Georgia"/>
                <a:cs typeface="Georgia"/>
                <a:sym typeface="Georgia"/>
              </a:rPr>
              <a:t>Logistic Regression, Random Forest and XGBoost all work well.</a:t>
            </a:r>
            <a:endParaRPr sz="1600" b="1">
              <a:solidFill>
                <a:schemeClr val="dk2"/>
              </a:solidFill>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1"/>
          <p:cNvSpPr txBox="1">
            <a:spLocks noGrp="1"/>
          </p:cNvSpPr>
          <p:nvPr>
            <p:ph type="title"/>
          </p:nvPr>
        </p:nvSpPr>
        <p:spPr>
          <a:xfrm>
            <a:off x="311700" y="279400"/>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accent5"/>
                </a:solidFill>
                <a:latin typeface="Georgia"/>
                <a:ea typeface="Georgia"/>
                <a:cs typeface="Georgia"/>
                <a:sym typeface="Georgia"/>
              </a:rPr>
              <a:t>Feature importance comparison</a:t>
            </a:r>
            <a:endParaRPr>
              <a:solidFill>
                <a:schemeClr val="dk2"/>
              </a:solidFill>
            </a:endParaRPr>
          </a:p>
          <a:p>
            <a:pPr marL="0" lvl="0" indent="0" algn="l" rtl="0">
              <a:spcBef>
                <a:spcPts val="1600"/>
              </a:spcBef>
              <a:spcAft>
                <a:spcPts val="0"/>
              </a:spcAft>
              <a:buNone/>
            </a:pPr>
            <a:endParaRPr/>
          </a:p>
        </p:txBody>
      </p:sp>
      <p:pic>
        <p:nvPicPr>
          <p:cNvPr id="222" name="Google Shape;222;p41"/>
          <p:cNvPicPr preferRelativeResize="0"/>
          <p:nvPr/>
        </p:nvPicPr>
        <p:blipFill>
          <a:blip r:embed="rId3">
            <a:alphaModFix/>
          </a:blip>
          <a:stretch>
            <a:fillRect/>
          </a:stretch>
        </p:blipFill>
        <p:spPr>
          <a:xfrm>
            <a:off x="311700" y="1310039"/>
            <a:ext cx="2916621" cy="3562287"/>
          </a:xfrm>
          <a:prstGeom prst="rect">
            <a:avLst/>
          </a:prstGeom>
          <a:noFill/>
          <a:ln>
            <a:noFill/>
          </a:ln>
        </p:spPr>
      </p:pic>
      <p:pic>
        <p:nvPicPr>
          <p:cNvPr id="223" name="Google Shape;223;p41"/>
          <p:cNvPicPr preferRelativeResize="0"/>
          <p:nvPr/>
        </p:nvPicPr>
        <p:blipFill>
          <a:blip r:embed="rId4">
            <a:alphaModFix/>
          </a:blip>
          <a:stretch>
            <a:fillRect/>
          </a:stretch>
        </p:blipFill>
        <p:spPr>
          <a:xfrm>
            <a:off x="3581015" y="1291550"/>
            <a:ext cx="2987385" cy="3648699"/>
          </a:xfrm>
          <a:prstGeom prst="rect">
            <a:avLst/>
          </a:prstGeom>
          <a:noFill/>
          <a:ln>
            <a:noFill/>
          </a:ln>
        </p:spPr>
      </p:pic>
      <p:sp>
        <p:nvSpPr>
          <p:cNvPr id="224" name="Google Shape;224;p41"/>
          <p:cNvSpPr txBox="1"/>
          <p:nvPr/>
        </p:nvSpPr>
        <p:spPr>
          <a:xfrm>
            <a:off x="1563213" y="977650"/>
            <a:ext cx="1794300" cy="37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XGBoost</a:t>
            </a:r>
            <a:endParaRPr sz="1200"/>
          </a:p>
        </p:txBody>
      </p:sp>
      <p:sp>
        <p:nvSpPr>
          <p:cNvPr id="225" name="Google Shape;225;p41"/>
          <p:cNvSpPr txBox="1"/>
          <p:nvPr/>
        </p:nvSpPr>
        <p:spPr>
          <a:xfrm>
            <a:off x="4310899" y="977650"/>
            <a:ext cx="1577700" cy="37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Random Forest</a:t>
            </a:r>
            <a:endParaRPr sz="1200"/>
          </a:p>
        </p:txBody>
      </p:sp>
      <p:sp>
        <p:nvSpPr>
          <p:cNvPr id="226" name="Google Shape;226;p41"/>
          <p:cNvSpPr txBox="1"/>
          <p:nvPr/>
        </p:nvSpPr>
        <p:spPr>
          <a:xfrm>
            <a:off x="6643800" y="1404275"/>
            <a:ext cx="2188500" cy="3373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a:solidFill>
                  <a:schemeClr val="dk2"/>
                </a:solidFill>
                <a:latin typeface="Georgia"/>
                <a:ea typeface="Georgia"/>
                <a:cs typeface="Georgia"/>
                <a:sym typeface="Georgia"/>
              </a:rPr>
              <a:t>For both models, the following features are highly critical:</a:t>
            </a:r>
            <a:endParaRPr sz="1600">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endParaRPr sz="1600">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r>
              <a:rPr lang="en" sz="1600" b="1">
                <a:solidFill>
                  <a:schemeClr val="dk2"/>
                </a:solidFill>
                <a:latin typeface="Georgia"/>
                <a:ea typeface="Georgia"/>
                <a:cs typeface="Georgia"/>
                <a:sym typeface="Georgia"/>
              </a:rPr>
              <a:t>“N_investors”</a:t>
            </a:r>
            <a:endParaRPr sz="1600" b="1">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endParaRPr sz="1600" b="1">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r>
              <a:rPr lang="en" sz="1600" b="1">
                <a:solidFill>
                  <a:schemeClr val="dk2"/>
                </a:solidFill>
                <a:latin typeface="Georgia"/>
                <a:ea typeface="Georgia"/>
                <a:cs typeface="Georgia"/>
                <a:sym typeface="Georgia"/>
              </a:rPr>
              <a:t>“Sector_10”</a:t>
            </a:r>
            <a:endParaRPr sz="1600" b="1">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endParaRPr sz="1600" b="1">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r>
              <a:rPr lang="en" sz="1600" b="1">
                <a:solidFill>
                  <a:schemeClr val="dk2"/>
                </a:solidFill>
                <a:latin typeface="Georgia"/>
                <a:ea typeface="Georgia"/>
                <a:cs typeface="Georgia"/>
                <a:sym typeface="Georgia"/>
              </a:rPr>
              <a:t>“Duration_scaled”</a:t>
            </a:r>
            <a:endParaRPr sz="1600" b="1">
              <a:solidFill>
                <a:schemeClr val="dk2"/>
              </a:solidFill>
              <a:latin typeface="Georgia"/>
              <a:ea typeface="Georgia"/>
              <a:cs typeface="Georgia"/>
              <a:sym typeface="Georgia"/>
            </a:endParaRPr>
          </a:p>
          <a:p>
            <a:pPr marL="0" lvl="0" indent="0" algn="l" rtl="0">
              <a:lnSpc>
                <a:spcPct val="115000"/>
              </a:lnSpc>
              <a:spcBef>
                <a:spcPts val="0"/>
              </a:spcBef>
              <a:spcAft>
                <a:spcPts val="0"/>
              </a:spcAft>
              <a:buNone/>
            </a:pPr>
            <a:br>
              <a:rPr lang="en" sz="1600" b="1">
                <a:solidFill>
                  <a:schemeClr val="dk2"/>
                </a:solidFill>
                <a:latin typeface="Georgia"/>
                <a:ea typeface="Georgia"/>
                <a:cs typeface="Georgia"/>
                <a:sym typeface="Georgia"/>
              </a:rPr>
            </a:br>
            <a:r>
              <a:rPr lang="en" sz="1600" b="1">
                <a:solidFill>
                  <a:schemeClr val="dk2"/>
                </a:solidFill>
                <a:latin typeface="Georgia"/>
                <a:ea typeface="Georgia"/>
                <a:cs typeface="Georgia"/>
                <a:sym typeface="Georgia"/>
              </a:rPr>
              <a:t>“reputation”</a:t>
            </a:r>
            <a:endParaRPr sz="1600" b="1">
              <a:solidFill>
                <a:schemeClr val="dk2"/>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2"/>
          <p:cNvSpPr txBox="1">
            <a:spLocks noGrp="1"/>
          </p:cNvSpPr>
          <p:nvPr>
            <p:ph type="title"/>
          </p:nvPr>
        </p:nvSpPr>
        <p:spPr>
          <a:xfrm>
            <a:off x="449813" y="514550"/>
            <a:ext cx="8520600" cy="643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accent5"/>
                </a:solidFill>
                <a:latin typeface="Georgia"/>
                <a:ea typeface="Georgia"/>
                <a:cs typeface="Georgia"/>
                <a:sym typeface="Georgia"/>
              </a:rPr>
              <a:t>Feature importance comparison</a:t>
            </a:r>
            <a:endParaRPr>
              <a:solidFill>
                <a:schemeClr val="dk2"/>
              </a:solidFill>
              <a:latin typeface="Georgia"/>
              <a:ea typeface="Georgia"/>
              <a:cs typeface="Georgia"/>
              <a:sym typeface="Georgia"/>
            </a:endParaRPr>
          </a:p>
          <a:p>
            <a:pPr marL="0" lvl="0" indent="0" algn="l" rtl="0">
              <a:spcBef>
                <a:spcPts val="1600"/>
              </a:spcBef>
              <a:spcAft>
                <a:spcPts val="0"/>
              </a:spcAft>
              <a:buNone/>
            </a:pPr>
            <a:endParaRPr/>
          </a:p>
        </p:txBody>
      </p:sp>
      <p:grpSp>
        <p:nvGrpSpPr>
          <p:cNvPr id="232" name="Google Shape;232;p42"/>
          <p:cNvGrpSpPr/>
          <p:nvPr/>
        </p:nvGrpSpPr>
        <p:grpSpPr>
          <a:xfrm>
            <a:off x="820639" y="3123304"/>
            <a:ext cx="7757433" cy="1329029"/>
            <a:chOff x="2283025" y="2322561"/>
            <a:chExt cx="5380754" cy="645254"/>
          </a:xfrm>
        </p:grpSpPr>
        <p:sp>
          <p:nvSpPr>
            <p:cNvPr id="233" name="Google Shape;233;p42"/>
            <p:cNvSpPr/>
            <p:nvPr/>
          </p:nvSpPr>
          <p:spPr>
            <a:xfrm>
              <a:off x="3728379" y="2322573"/>
              <a:ext cx="39354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2"/>
            <p:cNvSpPr/>
            <p:nvPr/>
          </p:nvSpPr>
          <p:spPr>
            <a:xfrm flipH="1">
              <a:off x="2283025" y="2322575"/>
              <a:ext cx="1844400" cy="642600"/>
            </a:xfrm>
            <a:prstGeom prst="rect">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2"/>
            <p:cNvSpPr/>
            <p:nvPr/>
          </p:nvSpPr>
          <p:spPr>
            <a:xfrm rot="-5400000">
              <a:off x="3489661" y="1946585"/>
              <a:ext cx="645254" cy="1397206"/>
            </a:xfrm>
            <a:prstGeom prst="flowChartOffpageConnector">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2"/>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Georgia"/>
                  <a:ea typeface="Georgia"/>
                  <a:cs typeface="Georgia"/>
                  <a:sym typeface="Georgia"/>
                </a:rPr>
                <a:t>ML methods</a:t>
              </a:r>
              <a:endParaRPr sz="1600">
                <a:solidFill>
                  <a:srgbClr val="FFFFFF"/>
                </a:solidFill>
                <a:latin typeface="Roboto"/>
                <a:ea typeface="Roboto"/>
                <a:cs typeface="Roboto"/>
                <a:sym typeface="Roboto"/>
              </a:endParaRPr>
            </a:p>
          </p:txBody>
        </p:sp>
        <p:sp>
          <p:nvSpPr>
            <p:cNvPr id="237" name="Google Shape;237;p42"/>
            <p:cNvSpPr/>
            <p:nvPr/>
          </p:nvSpPr>
          <p:spPr>
            <a:xfrm>
              <a:off x="4607518" y="2357791"/>
              <a:ext cx="2968500" cy="608400"/>
            </a:xfrm>
            <a:prstGeom prst="rect">
              <a:avLst/>
            </a:prstGeom>
            <a:noFill/>
            <a:ln>
              <a:noFill/>
            </a:ln>
          </p:spPr>
          <p:txBody>
            <a:bodyPr spcFirstLastPara="1" wrap="square" lIns="91425" tIns="91425" rIns="91425" bIns="91425" anchor="ctr" anchorCtr="0">
              <a:noAutofit/>
            </a:bodyPr>
            <a:lstStyle/>
            <a:p>
              <a:pPr marL="457200" lvl="0" indent="-323850" algn="l" rtl="0">
                <a:lnSpc>
                  <a:spcPct val="115000"/>
                </a:lnSpc>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Duration</a:t>
              </a:r>
              <a:endParaRPr sz="1500">
                <a:solidFill>
                  <a:srgbClr val="1B786E"/>
                </a:solidFill>
                <a:latin typeface="Georgia"/>
                <a:ea typeface="Georgia"/>
                <a:cs typeface="Georgia"/>
                <a:sym typeface="Georgia"/>
              </a:endParaRPr>
            </a:p>
            <a:p>
              <a:pPr marL="457200" lvl="0" indent="-323850" algn="l" rtl="0">
                <a:lnSpc>
                  <a:spcPct val="115000"/>
                </a:lnSpc>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Total funding</a:t>
              </a:r>
              <a:endParaRPr sz="1500">
                <a:solidFill>
                  <a:srgbClr val="1B786E"/>
                </a:solidFill>
                <a:latin typeface="Georgia"/>
                <a:ea typeface="Georgia"/>
                <a:cs typeface="Georgia"/>
                <a:sym typeface="Georgia"/>
              </a:endParaRPr>
            </a:p>
            <a:p>
              <a:pPr marL="457200" lvl="0" indent="-323850" algn="l" rtl="0">
                <a:lnSpc>
                  <a:spcPct val="115000"/>
                </a:lnSpc>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Manufacturing, Services, Nonclassifiable</a:t>
              </a:r>
              <a:endParaRPr sz="1500">
                <a:solidFill>
                  <a:srgbClr val="1B786E"/>
                </a:solidFill>
                <a:latin typeface="Georgia"/>
                <a:ea typeface="Georgia"/>
                <a:cs typeface="Georgia"/>
                <a:sym typeface="Georgia"/>
              </a:endParaRPr>
            </a:p>
            <a:p>
              <a:pPr marL="457200" lvl="0" indent="-323850" algn="l" rtl="0">
                <a:lnSpc>
                  <a:spcPct val="115000"/>
                </a:lnSpc>
                <a:spcBef>
                  <a:spcPts val="0"/>
                </a:spcBef>
                <a:spcAft>
                  <a:spcPts val="0"/>
                </a:spcAft>
                <a:buClr>
                  <a:srgbClr val="1B786E"/>
                </a:buClr>
                <a:buSzPts val="1500"/>
                <a:buFont typeface="Roboto"/>
                <a:buChar char="●"/>
              </a:pPr>
              <a:r>
                <a:rPr lang="en" sz="1500" b="1">
                  <a:solidFill>
                    <a:srgbClr val="1B786E"/>
                  </a:solidFill>
                  <a:latin typeface="Georgia"/>
                  <a:ea typeface="Georgia"/>
                  <a:cs typeface="Georgia"/>
                  <a:sym typeface="Georgia"/>
                </a:rPr>
                <a:t>Reputation</a:t>
              </a:r>
              <a:endParaRPr sz="1500" b="1">
                <a:solidFill>
                  <a:srgbClr val="1B786E"/>
                </a:solidFill>
                <a:latin typeface="Georgia"/>
                <a:ea typeface="Georgia"/>
                <a:cs typeface="Georgia"/>
                <a:sym typeface="Georgia"/>
              </a:endParaRPr>
            </a:p>
            <a:p>
              <a:pPr marL="457200" lvl="0" indent="-323850" algn="l" rtl="0">
                <a:lnSpc>
                  <a:spcPct val="115000"/>
                </a:lnSpc>
                <a:spcBef>
                  <a:spcPts val="0"/>
                </a:spcBef>
                <a:spcAft>
                  <a:spcPts val="0"/>
                </a:spcAft>
                <a:buClr>
                  <a:srgbClr val="1B786E"/>
                </a:buClr>
                <a:buSzPts val="1500"/>
                <a:buFont typeface="Roboto"/>
                <a:buChar char="●"/>
              </a:pPr>
              <a:r>
                <a:rPr lang="en" sz="1500" b="1">
                  <a:solidFill>
                    <a:srgbClr val="1B786E"/>
                  </a:solidFill>
                  <a:latin typeface="Georgia"/>
                  <a:ea typeface="Georgia"/>
                  <a:cs typeface="Georgia"/>
                  <a:sym typeface="Georgia"/>
                </a:rPr>
                <a:t>Number of investors</a:t>
              </a:r>
              <a:endParaRPr sz="800" b="1">
                <a:solidFill>
                  <a:srgbClr val="1B786E"/>
                </a:solidFill>
                <a:latin typeface="Roboto"/>
                <a:ea typeface="Roboto"/>
                <a:cs typeface="Roboto"/>
                <a:sym typeface="Roboto"/>
              </a:endParaRPr>
            </a:p>
          </p:txBody>
        </p:sp>
      </p:grpSp>
      <p:grpSp>
        <p:nvGrpSpPr>
          <p:cNvPr id="238" name="Google Shape;238;p42"/>
          <p:cNvGrpSpPr/>
          <p:nvPr/>
        </p:nvGrpSpPr>
        <p:grpSpPr>
          <a:xfrm>
            <a:off x="824208" y="1584774"/>
            <a:ext cx="7771807" cy="1538509"/>
            <a:chOff x="2283025" y="2246688"/>
            <a:chExt cx="5267950" cy="719400"/>
          </a:xfrm>
        </p:grpSpPr>
        <p:sp>
          <p:nvSpPr>
            <p:cNvPr id="239" name="Google Shape;239;p42"/>
            <p:cNvSpPr/>
            <p:nvPr/>
          </p:nvSpPr>
          <p:spPr>
            <a:xfrm>
              <a:off x="3728375" y="232249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2"/>
            <p:cNvSpPr/>
            <p:nvPr/>
          </p:nvSpPr>
          <p:spPr>
            <a:xfrm flipH="1">
              <a:off x="2283025" y="2322575"/>
              <a:ext cx="1844400" cy="642600"/>
            </a:xfrm>
            <a:prstGeom prst="rect">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2"/>
            <p:cNvSpPr/>
            <p:nvPr/>
          </p:nvSpPr>
          <p:spPr>
            <a:xfrm rot="-5400000">
              <a:off x="3471313" y="1964920"/>
              <a:ext cx="643365" cy="1358649"/>
            </a:xfrm>
            <a:prstGeom prst="flowChartOffpageConnector">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2"/>
            <p:cNvSpPr/>
            <p:nvPr/>
          </p:nvSpPr>
          <p:spPr>
            <a:xfrm>
              <a:off x="2447152" y="2431996"/>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800">
                  <a:solidFill>
                    <a:srgbClr val="FFFFFF"/>
                  </a:solidFill>
                  <a:latin typeface="Georgia"/>
                  <a:ea typeface="Georgia"/>
                  <a:cs typeface="Georgia"/>
                  <a:sym typeface="Georgia"/>
                </a:rPr>
                <a:t> Logistic regression</a:t>
              </a:r>
              <a:endParaRPr sz="1800">
                <a:solidFill>
                  <a:srgbClr val="FFFFFF"/>
                </a:solidFill>
                <a:latin typeface="Georgia"/>
                <a:ea typeface="Georgia"/>
                <a:cs typeface="Georgia"/>
                <a:sym typeface="Georgia"/>
              </a:endParaRPr>
            </a:p>
            <a:p>
              <a:pPr marL="0" lvl="0" indent="0" algn="l" rtl="0">
                <a:lnSpc>
                  <a:spcPct val="115000"/>
                </a:lnSpc>
                <a:spcBef>
                  <a:spcPts val="0"/>
                </a:spcBef>
                <a:spcAft>
                  <a:spcPts val="0"/>
                </a:spcAft>
                <a:buNone/>
              </a:pPr>
              <a:endParaRPr sz="1000">
                <a:solidFill>
                  <a:srgbClr val="FFFFFF"/>
                </a:solidFill>
                <a:latin typeface="Roboto Medium"/>
                <a:ea typeface="Roboto Medium"/>
                <a:cs typeface="Roboto Medium"/>
                <a:sym typeface="Roboto Medium"/>
              </a:endParaRPr>
            </a:p>
          </p:txBody>
        </p:sp>
        <p:sp>
          <p:nvSpPr>
            <p:cNvPr id="243" name="Google Shape;243;p42"/>
            <p:cNvSpPr/>
            <p:nvPr/>
          </p:nvSpPr>
          <p:spPr>
            <a:xfrm>
              <a:off x="4583685" y="2246688"/>
              <a:ext cx="2854500" cy="719400"/>
            </a:xfrm>
            <a:prstGeom prst="rect">
              <a:avLst/>
            </a:prstGeom>
            <a:noFill/>
            <a:ln>
              <a:noFill/>
            </a:ln>
          </p:spPr>
          <p:txBody>
            <a:bodyPr spcFirstLastPara="1" wrap="square" lIns="91425" tIns="91425" rIns="91425" bIns="91425" anchor="ctr" anchorCtr="0">
              <a:noAutofit/>
            </a:bodyPr>
            <a:lstStyle/>
            <a:p>
              <a:pPr marL="457200" lvl="0" indent="-323850" algn="l" rtl="0">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Duration</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Total funding</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Roboto"/>
                <a:buChar char="●"/>
              </a:pPr>
              <a:r>
                <a:rPr lang="en" sz="1500" b="1">
                  <a:solidFill>
                    <a:srgbClr val="1B786E"/>
                  </a:solidFill>
                  <a:latin typeface="Georgia"/>
                  <a:ea typeface="Georgia"/>
                  <a:cs typeface="Georgia"/>
                  <a:sym typeface="Georgia"/>
                </a:rPr>
                <a:t>Mining</a:t>
              </a:r>
              <a:r>
                <a:rPr lang="en" sz="1500">
                  <a:solidFill>
                    <a:srgbClr val="1B786E"/>
                  </a:solidFill>
                  <a:latin typeface="Georgia"/>
                  <a:ea typeface="Georgia"/>
                  <a:cs typeface="Georgia"/>
                  <a:sym typeface="Georgia"/>
                </a:rPr>
                <a:t>, Manufacturing, Services, Nonclassifiable</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Roboto"/>
                <a:buChar char="●"/>
              </a:pPr>
              <a:r>
                <a:rPr lang="en" sz="1500" b="1">
                  <a:solidFill>
                    <a:srgbClr val="1B786E"/>
                  </a:solidFill>
                  <a:latin typeface="Georgia"/>
                  <a:ea typeface="Georgia"/>
                  <a:cs typeface="Georgia"/>
                  <a:sym typeface="Georgia"/>
                </a:rPr>
                <a:t>The duration of the first two rounds</a:t>
              </a:r>
              <a:endParaRPr sz="1500" b="1">
                <a:solidFill>
                  <a:srgbClr val="1B786E"/>
                </a:solidFill>
                <a:latin typeface="Georgia"/>
                <a:ea typeface="Georgia"/>
                <a:cs typeface="Georgia"/>
                <a:sym typeface="Georgia"/>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3"/>
          <p:cNvSpPr txBox="1">
            <a:spLocks noGrp="1"/>
          </p:cNvSpPr>
          <p:nvPr>
            <p:ph type="title"/>
          </p:nvPr>
        </p:nvSpPr>
        <p:spPr>
          <a:xfrm>
            <a:off x="311700" y="2704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97A7"/>
                </a:solidFill>
                <a:latin typeface="Georgia"/>
                <a:ea typeface="Georgia"/>
                <a:cs typeface="Georgia"/>
                <a:sym typeface="Georgia"/>
              </a:rPr>
              <a:t>Robustness assessment</a:t>
            </a:r>
            <a:endParaRPr>
              <a:solidFill>
                <a:srgbClr val="0097A7"/>
              </a:solidFill>
              <a:latin typeface="Georgia"/>
              <a:ea typeface="Georgia"/>
              <a:cs typeface="Georgia"/>
              <a:sym typeface="Georgia"/>
            </a:endParaRPr>
          </a:p>
        </p:txBody>
      </p:sp>
      <p:sp>
        <p:nvSpPr>
          <p:cNvPr id="249" name="Google Shape;249;p43"/>
          <p:cNvSpPr txBox="1">
            <a:spLocks noGrp="1"/>
          </p:cNvSpPr>
          <p:nvPr>
            <p:ph type="body" idx="1"/>
          </p:nvPr>
        </p:nvSpPr>
        <p:spPr>
          <a:xfrm>
            <a:off x="5329725" y="1047263"/>
            <a:ext cx="3200100" cy="3396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endParaRPr/>
          </a:p>
          <a:p>
            <a:pPr marL="0" lvl="0" indent="0" algn="just" rtl="0">
              <a:spcBef>
                <a:spcPts val="1600"/>
              </a:spcBef>
              <a:spcAft>
                <a:spcPts val="0"/>
              </a:spcAft>
              <a:buNone/>
            </a:pPr>
            <a:r>
              <a:rPr lang="en">
                <a:latin typeface="Georgia"/>
                <a:ea typeface="Georgia"/>
                <a:cs typeface="Georgia"/>
                <a:sym typeface="Georgia"/>
              </a:rPr>
              <a:t>We did 100 trials on different test datasets to assess the robustness for each method.</a:t>
            </a:r>
            <a:endParaRPr>
              <a:latin typeface="Georgia"/>
              <a:ea typeface="Georgia"/>
              <a:cs typeface="Georgia"/>
              <a:sym typeface="Georgia"/>
            </a:endParaRPr>
          </a:p>
          <a:p>
            <a:pPr marL="0" lvl="0" indent="0" algn="just" rtl="0">
              <a:spcBef>
                <a:spcPts val="1600"/>
              </a:spcBef>
              <a:spcAft>
                <a:spcPts val="1600"/>
              </a:spcAft>
              <a:buNone/>
            </a:pPr>
            <a:endParaRPr>
              <a:latin typeface="Georgia"/>
              <a:ea typeface="Georgia"/>
              <a:cs typeface="Georgia"/>
              <a:sym typeface="Georgia"/>
            </a:endParaRPr>
          </a:p>
        </p:txBody>
      </p:sp>
      <p:pic>
        <p:nvPicPr>
          <p:cNvPr id="250" name="Google Shape;250;p43"/>
          <p:cNvPicPr preferRelativeResize="0"/>
          <p:nvPr/>
        </p:nvPicPr>
        <p:blipFill>
          <a:blip r:embed="rId3">
            <a:alphaModFix/>
          </a:blip>
          <a:stretch>
            <a:fillRect/>
          </a:stretch>
        </p:blipFill>
        <p:spPr>
          <a:xfrm>
            <a:off x="152400" y="995550"/>
            <a:ext cx="5024924" cy="348977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4"/>
          <p:cNvSpPr txBox="1">
            <a:spLocks noGrp="1"/>
          </p:cNvSpPr>
          <p:nvPr>
            <p:ph type="body" idx="1"/>
          </p:nvPr>
        </p:nvSpPr>
        <p:spPr>
          <a:xfrm>
            <a:off x="291000" y="4165200"/>
            <a:ext cx="8853000" cy="616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latin typeface="Georgia"/>
                <a:ea typeface="Georgia"/>
                <a:cs typeface="Georgia"/>
                <a:sym typeface="Georgia"/>
              </a:rPr>
              <a:t>Overall, all the models are quite robust for different train/test split data</a:t>
            </a:r>
            <a:endParaRPr>
              <a:latin typeface="Georgia"/>
              <a:ea typeface="Georgia"/>
              <a:cs typeface="Georgia"/>
              <a:sym typeface="Georgia"/>
            </a:endParaRPr>
          </a:p>
        </p:txBody>
      </p:sp>
      <p:pic>
        <p:nvPicPr>
          <p:cNvPr id="256" name="Google Shape;256;p44"/>
          <p:cNvPicPr preferRelativeResize="0"/>
          <p:nvPr/>
        </p:nvPicPr>
        <p:blipFill>
          <a:blip r:embed="rId3">
            <a:alphaModFix/>
          </a:blip>
          <a:stretch>
            <a:fillRect/>
          </a:stretch>
        </p:blipFill>
        <p:spPr>
          <a:xfrm>
            <a:off x="69825" y="1064775"/>
            <a:ext cx="4338149" cy="3046750"/>
          </a:xfrm>
          <a:prstGeom prst="rect">
            <a:avLst/>
          </a:prstGeom>
          <a:noFill/>
          <a:ln>
            <a:noFill/>
          </a:ln>
        </p:spPr>
      </p:pic>
      <p:pic>
        <p:nvPicPr>
          <p:cNvPr id="257" name="Google Shape;257;p44"/>
          <p:cNvPicPr preferRelativeResize="0"/>
          <p:nvPr/>
        </p:nvPicPr>
        <p:blipFill>
          <a:blip r:embed="rId4">
            <a:alphaModFix/>
          </a:blip>
          <a:stretch>
            <a:fillRect/>
          </a:stretch>
        </p:blipFill>
        <p:spPr>
          <a:xfrm>
            <a:off x="4502175" y="1095938"/>
            <a:ext cx="4419601" cy="2984424"/>
          </a:xfrm>
          <a:prstGeom prst="rect">
            <a:avLst/>
          </a:prstGeom>
          <a:noFill/>
          <a:ln>
            <a:noFill/>
          </a:ln>
        </p:spPr>
      </p:pic>
      <p:sp>
        <p:nvSpPr>
          <p:cNvPr id="258" name="Google Shape;258;p44"/>
          <p:cNvSpPr txBox="1">
            <a:spLocks noGrp="1"/>
          </p:cNvSpPr>
          <p:nvPr>
            <p:ph type="title"/>
          </p:nvPr>
        </p:nvSpPr>
        <p:spPr>
          <a:xfrm>
            <a:off x="311700" y="2704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97A7"/>
                </a:solidFill>
                <a:latin typeface="Georgia"/>
                <a:ea typeface="Georgia"/>
                <a:cs typeface="Georgia"/>
                <a:sym typeface="Georgia"/>
              </a:rPr>
              <a:t>Robustness assessment</a:t>
            </a:r>
            <a:endParaRPr>
              <a:solidFill>
                <a:srgbClr val="0097A7"/>
              </a:solidFill>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Sector analysis &amp; modeling</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sp>
        <p:nvSpPr>
          <p:cNvPr id="264" name="Google Shape;264;p45"/>
          <p:cNvSpPr txBox="1">
            <a:spLocks noGrp="1"/>
          </p:cNvSpPr>
          <p:nvPr>
            <p:ph type="body" idx="1"/>
          </p:nvPr>
        </p:nvSpPr>
        <p:spPr>
          <a:xfrm>
            <a:off x="570200" y="1379875"/>
            <a:ext cx="7296300" cy="28665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Font typeface="Georgia"/>
              <a:buChar char="-"/>
            </a:pPr>
            <a:r>
              <a:rPr lang="en" sz="1600">
                <a:latin typeface="Georgia"/>
                <a:ea typeface="Georgia"/>
                <a:cs typeface="Georgia"/>
                <a:sym typeface="Georgia"/>
              </a:rPr>
              <a:t>From previous analysis, 4 sectors: Mining, Service, Manufacturing and Nonclassifiable are highly correlated with the outcome.</a:t>
            </a:r>
            <a:endParaRPr sz="1600">
              <a:latin typeface="Georgia"/>
              <a:ea typeface="Georgia"/>
              <a:cs typeface="Georgia"/>
              <a:sym typeface="Georgia"/>
            </a:endParaRPr>
          </a:p>
          <a:p>
            <a:pPr marL="457200" lvl="0" indent="-330200" algn="l" rtl="0">
              <a:spcBef>
                <a:spcPts val="1600"/>
              </a:spcBef>
              <a:spcAft>
                <a:spcPts val="0"/>
              </a:spcAft>
              <a:buSzPts val="1600"/>
              <a:buFont typeface="Georgia"/>
              <a:buChar char="-"/>
            </a:pPr>
            <a:r>
              <a:rPr lang="en" sz="1600">
                <a:latin typeface="Georgia"/>
                <a:ea typeface="Georgia"/>
                <a:cs typeface="Georgia"/>
                <a:sym typeface="Georgia"/>
              </a:rPr>
              <a:t>Different sectors may have different factor importance.</a:t>
            </a:r>
            <a:endParaRPr sz="1600">
              <a:latin typeface="Georgia"/>
              <a:ea typeface="Georgia"/>
              <a:cs typeface="Georgia"/>
              <a:sym typeface="Georgia"/>
            </a:endParaRPr>
          </a:p>
          <a:p>
            <a:pPr marL="457200" lvl="0" indent="-330200" algn="l" rtl="0">
              <a:spcBef>
                <a:spcPts val="1600"/>
              </a:spcBef>
              <a:spcAft>
                <a:spcPts val="0"/>
              </a:spcAft>
              <a:buSzPts val="1600"/>
              <a:buFont typeface="Georgia"/>
              <a:buChar char="-"/>
            </a:pPr>
            <a:r>
              <a:rPr lang="en" sz="1600">
                <a:latin typeface="Georgia"/>
                <a:ea typeface="Georgia"/>
                <a:cs typeface="Georgia"/>
                <a:sym typeface="Georgia"/>
              </a:rPr>
              <a:t>We explored further within sectors:</a:t>
            </a:r>
            <a:endParaRPr sz="1600">
              <a:latin typeface="Georgia"/>
              <a:ea typeface="Georgia"/>
              <a:cs typeface="Georgia"/>
              <a:sym typeface="Georgia"/>
            </a:endParaRPr>
          </a:p>
          <a:p>
            <a:pPr marL="0" lvl="0" indent="0" algn="l" rtl="0">
              <a:spcBef>
                <a:spcPts val="1600"/>
              </a:spcBef>
              <a:spcAft>
                <a:spcPts val="0"/>
              </a:spcAft>
              <a:buNone/>
            </a:pPr>
            <a:r>
              <a:rPr lang="en" sz="1600" b="1">
                <a:latin typeface="Georgia"/>
                <a:ea typeface="Georgia"/>
                <a:cs typeface="Georgia"/>
                <a:sym typeface="Georgia"/>
              </a:rPr>
              <a:t>        Mining</a:t>
            </a:r>
            <a:r>
              <a:rPr lang="en" sz="1600">
                <a:latin typeface="Georgia"/>
                <a:ea typeface="Georgia"/>
                <a:cs typeface="Georgia"/>
                <a:sym typeface="Georgia"/>
              </a:rPr>
              <a:t>:  15 samples ( 93.33% succeed)</a:t>
            </a:r>
            <a:endParaRPr sz="1600">
              <a:latin typeface="Georgia"/>
              <a:ea typeface="Georgia"/>
              <a:cs typeface="Georgia"/>
              <a:sym typeface="Georgia"/>
            </a:endParaRPr>
          </a:p>
          <a:p>
            <a:pPr marL="0" lvl="0" indent="0" algn="l" rtl="0">
              <a:spcBef>
                <a:spcPts val="1600"/>
              </a:spcBef>
              <a:spcAft>
                <a:spcPts val="0"/>
              </a:spcAft>
              <a:buNone/>
            </a:pPr>
            <a:r>
              <a:rPr lang="en" sz="1600">
                <a:latin typeface="Georgia"/>
                <a:ea typeface="Georgia"/>
                <a:cs typeface="Georgia"/>
                <a:sym typeface="Georgia"/>
              </a:rPr>
              <a:t>	</a:t>
            </a:r>
            <a:r>
              <a:rPr lang="en" sz="1600" b="1">
                <a:latin typeface="Georgia"/>
                <a:ea typeface="Georgia"/>
                <a:cs typeface="Georgia"/>
                <a:sym typeface="Georgia"/>
              </a:rPr>
              <a:t>Service</a:t>
            </a:r>
            <a:r>
              <a:rPr lang="en" sz="1600">
                <a:latin typeface="Georgia"/>
                <a:ea typeface="Georgia"/>
                <a:cs typeface="Georgia"/>
                <a:sym typeface="Georgia"/>
              </a:rPr>
              <a:t>: 3122 samples (83.76% succeed)</a:t>
            </a:r>
            <a:endParaRPr sz="1600">
              <a:latin typeface="Georgia"/>
              <a:ea typeface="Georgia"/>
              <a:cs typeface="Georgia"/>
              <a:sym typeface="Georgia"/>
            </a:endParaRPr>
          </a:p>
          <a:p>
            <a:pPr marL="0" lvl="0" indent="0" algn="l" rtl="0">
              <a:spcBef>
                <a:spcPts val="1600"/>
              </a:spcBef>
              <a:spcAft>
                <a:spcPts val="0"/>
              </a:spcAft>
              <a:buClr>
                <a:schemeClr val="dk1"/>
              </a:buClr>
              <a:buSzPts val="1100"/>
              <a:buFont typeface="Arial"/>
              <a:buNone/>
            </a:pPr>
            <a:r>
              <a:rPr lang="en" sz="1600">
                <a:latin typeface="Georgia"/>
                <a:ea typeface="Georgia"/>
                <a:cs typeface="Georgia"/>
                <a:sym typeface="Georgia"/>
              </a:rPr>
              <a:t>	</a:t>
            </a:r>
            <a:r>
              <a:rPr lang="en" sz="1600" b="1">
                <a:latin typeface="Georgia"/>
                <a:ea typeface="Georgia"/>
                <a:cs typeface="Georgia"/>
                <a:sym typeface="Georgia"/>
              </a:rPr>
              <a:t>Manufacturing</a:t>
            </a:r>
            <a:r>
              <a:rPr lang="en" sz="1600">
                <a:latin typeface="Georgia"/>
                <a:ea typeface="Georgia"/>
                <a:cs typeface="Georgia"/>
                <a:sym typeface="Georgia"/>
              </a:rPr>
              <a:t>: 1757 samples (85.54% succeed)</a:t>
            </a:r>
            <a:endParaRPr sz="1600">
              <a:latin typeface="Georgia"/>
              <a:ea typeface="Georgia"/>
              <a:cs typeface="Georgia"/>
              <a:sym typeface="Georgia"/>
            </a:endParaRPr>
          </a:p>
          <a:p>
            <a:pPr marL="0" lvl="0" indent="0" algn="l" rtl="0">
              <a:spcBef>
                <a:spcPts val="1600"/>
              </a:spcBef>
              <a:spcAft>
                <a:spcPts val="160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Model Comparison (Service)</a:t>
            </a:r>
            <a:endParaRPr>
              <a:solidFill>
                <a:srgbClr val="000000"/>
              </a:solidFill>
              <a:latin typeface="Georgia"/>
              <a:ea typeface="Georgia"/>
              <a:cs typeface="Georgia"/>
              <a:sym typeface="Georgia"/>
            </a:endParaRPr>
          </a:p>
          <a:p>
            <a:pPr marL="0" lvl="0" indent="0" algn="l" rtl="0">
              <a:spcBef>
                <a:spcPts val="0"/>
              </a:spcBef>
              <a:spcAft>
                <a:spcPts val="0"/>
              </a:spcAft>
              <a:buNone/>
            </a:pPr>
            <a:endParaRPr/>
          </a:p>
        </p:txBody>
      </p:sp>
      <p:sp>
        <p:nvSpPr>
          <p:cNvPr id="270" name="Google Shape;270;p46"/>
          <p:cNvSpPr txBox="1">
            <a:spLocks noGrp="1"/>
          </p:cNvSpPr>
          <p:nvPr>
            <p:ph type="body" idx="1"/>
          </p:nvPr>
        </p:nvSpPr>
        <p:spPr>
          <a:xfrm>
            <a:off x="1536675" y="4253025"/>
            <a:ext cx="6536100" cy="39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600" b="1">
                <a:latin typeface="Georgia"/>
                <a:ea typeface="Georgia"/>
                <a:cs typeface="Georgia"/>
                <a:sym typeface="Georgia"/>
              </a:rPr>
              <a:t>XGBoost outperforms other models in Service sector.</a:t>
            </a:r>
            <a:endParaRPr sz="1600" b="1">
              <a:latin typeface="Georgia"/>
              <a:ea typeface="Georgia"/>
              <a:cs typeface="Georgia"/>
              <a:sym typeface="Georgia"/>
            </a:endParaRPr>
          </a:p>
        </p:txBody>
      </p:sp>
      <p:pic>
        <p:nvPicPr>
          <p:cNvPr id="271" name="Google Shape;271;p46"/>
          <p:cNvPicPr preferRelativeResize="0"/>
          <p:nvPr/>
        </p:nvPicPr>
        <p:blipFill>
          <a:blip r:embed="rId3">
            <a:alphaModFix/>
          </a:blip>
          <a:stretch>
            <a:fillRect/>
          </a:stretch>
        </p:blipFill>
        <p:spPr>
          <a:xfrm>
            <a:off x="4572000" y="1425675"/>
            <a:ext cx="4219575" cy="2524125"/>
          </a:xfrm>
          <a:prstGeom prst="rect">
            <a:avLst/>
          </a:prstGeom>
          <a:noFill/>
          <a:ln>
            <a:noFill/>
          </a:ln>
        </p:spPr>
      </p:pic>
      <p:pic>
        <p:nvPicPr>
          <p:cNvPr id="272" name="Google Shape;272;p46"/>
          <p:cNvPicPr preferRelativeResize="0"/>
          <p:nvPr/>
        </p:nvPicPr>
        <p:blipFill>
          <a:blip r:embed="rId4">
            <a:alphaModFix/>
          </a:blip>
          <a:stretch>
            <a:fillRect/>
          </a:stretch>
        </p:blipFill>
        <p:spPr>
          <a:xfrm>
            <a:off x="152400" y="1462088"/>
            <a:ext cx="4219575" cy="2524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Model Comparison (Manufacturing)</a:t>
            </a:r>
            <a:endParaRPr>
              <a:solidFill>
                <a:srgbClr val="000000"/>
              </a:solidFill>
              <a:latin typeface="Georgia"/>
              <a:ea typeface="Georgia"/>
              <a:cs typeface="Georgia"/>
              <a:sym typeface="Georgia"/>
            </a:endParaRPr>
          </a:p>
          <a:p>
            <a:pPr marL="0" lvl="0" indent="0" algn="l" rtl="0">
              <a:spcBef>
                <a:spcPts val="0"/>
              </a:spcBef>
              <a:spcAft>
                <a:spcPts val="0"/>
              </a:spcAft>
              <a:buNone/>
            </a:pPr>
            <a:endParaRPr/>
          </a:p>
        </p:txBody>
      </p:sp>
      <p:pic>
        <p:nvPicPr>
          <p:cNvPr id="278" name="Google Shape;278;p47"/>
          <p:cNvPicPr preferRelativeResize="0"/>
          <p:nvPr/>
        </p:nvPicPr>
        <p:blipFill>
          <a:blip r:embed="rId3">
            <a:alphaModFix/>
          </a:blip>
          <a:stretch>
            <a:fillRect/>
          </a:stretch>
        </p:blipFill>
        <p:spPr>
          <a:xfrm>
            <a:off x="152400" y="1472875"/>
            <a:ext cx="4219575" cy="2524125"/>
          </a:xfrm>
          <a:prstGeom prst="rect">
            <a:avLst/>
          </a:prstGeom>
          <a:noFill/>
          <a:ln>
            <a:noFill/>
          </a:ln>
        </p:spPr>
      </p:pic>
      <p:pic>
        <p:nvPicPr>
          <p:cNvPr id="279" name="Google Shape;279;p47"/>
          <p:cNvPicPr preferRelativeResize="0"/>
          <p:nvPr/>
        </p:nvPicPr>
        <p:blipFill>
          <a:blip r:embed="rId4">
            <a:alphaModFix/>
          </a:blip>
          <a:stretch>
            <a:fillRect/>
          </a:stretch>
        </p:blipFill>
        <p:spPr>
          <a:xfrm>
            <a:off x="4524375" y="1472875"/>
            <a:ext cx="4219575" cy="2524125"/>
          </a:xfrm>
          <a:prstGeom prst="rect">
            <a:avLst/>
          </a:prstGeom>
          <a:noFill/>
          <a:ln>
            <a:noFill/>
          </a:ln>
        </p:spPr>
      </p:pic>
      <p:sp>
        <p:nvSpPr>
          <p:cNvPr id="280" name="Google Shape;280;p47"/>
          <p:cNvSpPr txBox="1">
            <a:spLocks noGrp="1"/>
          </p:cNvSpPr>
          <p:nvPr>
            <p:ph type="body" idx="1"/>
          </p:nvPr>
        </p:nvSpPr>
        <p:spPr>
          <a:xfrm>
            <a:off x="1226275" y="4253025"/>
            <a:ext cx="8220300" cy="39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600" b="1">
                <a:latin typeface="Georgia"/>
                <a:ea typeface="Georgia"/>
                <a:cs typeface="Georgia"/>
                <a:sym typeface="Georgia"/>
              </a:rPr>
              <a:t>XGBoost outperforms other models in Manufacturing sector.</a:t>
            </a:r>
            <a:endParaRPr sz="1600" b="1">
              <a:latin typeface="Georgia"/>
              <a:ea typeface="Georgia"/>
              <a:cs typeface="Georgia"/>
              <a:sym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8"/>
          <p:cNvSpPr txBox="1">
            <a:spLocks noGrp="1"/>
          </p:cNvSpPr>
          <p:nvPr>
            <p:ph type="title"/>
          </p:nvPr>
        </p:nvSpPr>
        <p:spPr>
          <a:xfrm>
            <a:off x="311700" y="279400"/>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accent5"/>
                </a:solidFill>
                <a:latin typeface="Georgia"/>
                <a:ea typeface="Georgia"/>
                <a:cs typeface="Georgia"/>
                <a:sym typeface="Georgia"/>
              </a:rPr>
              <a:t>Feature importance (Services)</a:t>
            </a:r>
            <a:endParaRPr>
              <a:solidFill>
                <a:schemeClr val="dk2"/>
              </a:solidFill>
              <a:latin typeface="Georgia"/>
              <a:ea typeface="Georgia"/>
              <a:cs typeface="Georgia"/>
              <a:sym typeface="Georgia"/>
            </a:endParaRPr>
          </a:p>
          <a:p>
            <a:pPr marL="0" lvl="0" indent="0" algn="l" rtl="0">
              <a:spcBef>
                <a:spcPts val="1600"/>
              </a:spcBef>
              <a:spcAft>
                <a:spcPts val="0"/>
              </a:spcAft>
              <a:buNone/>
            </a:pPr>
            <a:endParaRPr/>
          </a:p>
        </p:txBody>
      </p:sp>
      <p:sp>
        <p:nvSpPr>
          <p:cNvPr id="286" name="Google Shape;286;p48"/>
          <p:cNvSpPr txBox="1"/>
          <p:nvPr/>
        </p:nvSpPr>
        <p:spPr>
          <a:xfrm>
            <a:off x="1486018" y="1797525"/>
            <a:ext cx="16836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XGBoost</a:t>
            </a:r>
            <a:endParaRPr sz="1200"/>
          </a:p>
        </p:txBody>
      </p:sp>
      <p:sp>
        <p:nvSpPr>
          <p:cNvPr id="287" name="Google Shape;287;p48"/>
          <p:cNvSpPr txBox="1"/>
          <p:nvPr/>
        </p:nvSpPr>
        <p:spPr>
          <a:xfrm>
            <a:off x="4064224" y="1797525"/>
            <a:ext cx="14802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Random Forest</a:t>
            </a:r>
            <a:endParaRPr sz="1200"/>
          </a:p>
        </p:txBody>
      </p:sp>
      <p:sp>
        <p:nvSpPr>
          <p:cNvPr id="288" name="Google Shape;288;p48"/>
          <p:cNvSpPr txBox="1"/>
          <p:nvPr/>
        </p:nvSpPr>
        <p:spPr>
          <a:xfrm>
            <a:off x="6655950" y="1758550"/>
            <a:ext cx="1789200" cy="2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Logistic Regression</a:t>
            </a:r>
            <a:endParaRPr sz="1200"/>
          </a:p>
        </p:txBody>
      </p:sp>
      <p:sp>
        <p:nvSpPr>
          <p:cNvPr id="289" name="Google Shape;289;p48"/>
          <p:cNvSpPr txBox="1"/>
          <p:nvPr/>
        </p:nvSpPr>
        <p:spPr>
          <a:xfrm>
            <a:off x="638275" y="4022675"/>
            <a:ext cx="7753500" cy="86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solidFill>
                  <a:schemeClr val="dk2"/>
                </a:solidFill>
                <a:latin typeface="Georgia"/>
                <a:ea typeface="Georgia"/>
                <a:cs typeface="Georgia"/>
                <a:sym typeface="Georgia"/>
              </a:rPr>
              <a:t>For all of the three models, the following features are highly critical:</a:t>
            </a:r>
            <a:endParaRPr sz="1600">
              <a:solidFill>
                <a:schemeClr val="dk2"/>
              </a:solidFill>
              <a:latin typeface="Georgia"/>
              <a:ea typeface="Georgia"/>
              <a:cs typeface="Georgia"/>
              <a:sym typeface="Georgia"/>
            </a:endParaRPr>
          </a:p>
          <a:p>
            <a:pPr marL="0" lvl="0" indent="0" algn="ctr" rtl="0">
              <a:spcBef>
                <a:spcPts val="0"/>
              </a:spcBef>
              <a:spcAft>
                <a:spcPts val="0"/>
              </a:spcAft>
              <a:buNone/>
            </a:pPr>
            <a:r>
              <a:rPr lang="en" sz="1800" b="1">
                <a:solidFill>
                  <a:schemeClr val="dk2"/>
                </a:solidFill>
                <a:latin typeface="Georgia"/>
                <a:ea typeface="Georgia"/>
                <a:cs typeface="Georgia"/>
                <a:sym typeface="Georgia"/>
              </a:rPr>
              <a:t>“N_investors”, ”duration”,”reputation”,  “total funding”</a:t>
            </a:r>
            <a:endParaRPr sz="1800" b="1">
              <a:solidFill>
                <a:schemeClr val="dk2"/>
              </a:solidFill>
              <a:latin typeface="Georgia"/>
              <a:ea typeface="Georgia"/>
              <a:cs typeface="Georgia"/>
              <a:sym typeface="Georgia"/>
            </a:endParaRPr>
          </a:p>
        </p:txBody>
      </p:sp>
      <p:pic>
        <p:nvPicPr>
          <p:cNvPr id="290" name="Google Shape;290;p48"/>
          <p:cNvPicPr preferRelativeResize="0"/>
          <p:nvPr/>
        </p:nvPicPr>
        <p:blipFill>
          <a:blip r:embed="rId3">
            <a:alphaModFix/>
          </a:blip>
          <a:stretch>
            <a:fillRect/>
          </a:stretch>
        </p:blipFill>
        <p:spPr>
          <a:xfrm>
            <a:off x="268800" y="1167326"/>
            <a:ext cx="2936348" cy="2891185"/>
          </a:xfrm>
          <a:prstGeom prst="rect">
            <a:avLst/>
          </a:prstGeom>
          <a:noFill/>
          <a:ln>
            <a:noFill/>
          </a:ln>
        </p:spPr>
      </p:pic>
      <p:pic>
        <p:nvPicPr>
          <p:cNvPr id="291" name="Google Shape;291;p48"/>
          <p:cNvPicPr preferRelativeResize="0"/>
          <p:nvPr/>
        </p:nvPicPr>
        <p:blipFill>
          <a:blip r:embed="rId4">
            <a:alphaModFix/>
          </a:blip>
          <a:stretch>
            <a:fillRect/>
          </a:stretch>
        </p:blipFill>
        <p:spPr>
          <a:xfrm>
            <a:off x="3205149" y="1242637"/>
            <a:ext cx="2783358" cy="2740548"/>
          </a:xfrm>
          <a:prstGeom prst="rect">
            <a:avLst/>
          </a:prstGeom>
          <a:noFill/>
          <a:ln>
            <a:noFill/>
          </a:ln>
        </p:spPr>
      </p:pic>
      <p:pic>
        <p:nvPicPr>
          <p:cNvPr id="292" name="Google Shape;292;p48"/>
          <p:cNvPicPr preferRelativeResize="0"/>
          <p:nvPr/>
        </p:nvPicPr>
        <p:blipFill>
          <a:blip r:embed="rId5">
            <a:alphaModFix/>
          </a:blip>
          <a:stretch>
            <a:fillRect/>
          </a:stretch>
        </p:blipFill>
        <p:spPr>
          <a:xfrm>
            <a:off x="6095835" y="1242637"/>
            <a:ext cx="2901440" cy="2856814"/>
          </a:xfrm>
          <a:prstGeom prst="rect">
            <a:avLst/>
          </a:prstGeom>
          <a:noFill/>
          <a:ln>
            <a:noFill/>
          </a:ln>
        </p:spPr>
      </p:pic>
      <p:sp>
        <p:nvSpPr>
          <p:cNvPr id="293" name="Google Shape;293;p48"/>
          <p:cNvSpPr txBox="1"/>
          <p:nvPr/>
        </p:nvSpPr>
        <p:spPr>
          <a:xfrm>
            <a:off x="1486018" y="883125"/>
            <a:ext cx="16836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XGBoost</a:t>
            </a:r>
            <a:endParaRPr sz="1200"/>
          </a:p>
        </p:txBody>
      </p:sp>
      <p:sp>
        <p:nvSpPr>
          <p:cNvPr id="294" name="Google Shape;294;p48"/>
          <p:cNvSpPr txBox="1"/>
          <p:nvPr/>
        </p:nvSpPr>
        <p:spPr>
          <a:xfrm>
            <a:off x="4064224" y="883125"/>
            <a:ext cx="14802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Random Forest</a:t>
            </a:r>
            <a:endParaRPr sz="1200"/>
          </a:p>
        </p:txBody>
      </p:sp>
      <p:sp>
        <p:nvSpPr>
          <p:cNvPr id="295" name="Google Shape;295;p48"/>
          <p:cNvSpPr txBox="1"/>
          <p:nvPr/>
        </p:nvSpPr>
        <p:spPr>
          <a:xfrm>
            <a:off x="6655950" y="920350"/>
            <a:ext cx="1789200" cy="2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Logistic Regression</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9"/>
          <p:cNvSpPr txBox="1">
            <a:spLocks noGrp="1"/>
          </p:cNvSpPr>
          <p:nvPr>
            <p:ph type="title"/>
          </p:nvPr>
        </p:nvSpPr>
        <p:spPr>
          <a:xfrm>
            <a:off x="311700" y="279400"/>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accent5"/>
                </a:solidFill>
                <a:latin typeface="Georgia"/>
                <a:ea typeface="Georgia"/>
                <a:cs typeface="Georgia"/>
                <a:sym typeface="Georgia"/>
              </a:rPr>
              <a:t>Feature importance (Manufacturing)</a:t>
            </a:r>
            <a:endParaRPr>
              <a:solidFill>
                <a:schemeClr val="dk2"/>
              </a:solidFill>
              <a:latin typeface="Georgia"/>
              <a:ea typeface="Georgia"/>
              <a:cs typeface="Georgia"/>
              <a:sym typeface="Georgia"/>
            </a:endParaRPr>
          </a:p>
          <a:p>
            <a:pPr marL="0" lvl="0" indent="0" algn="l" rtl="0">
              <a:spcBef>
                <a:spcPts val="1600"/>
              </a:spcBef>
              <a:spcAft>
                <a:spcPts val="0"/>
              </a:spcAft>
              <a:buNone/>
            </a:pPr>
            <a:endParaRPr/>
          </a:p>
        </p:txBody>
      </p:sp>
      <p:sp>
        <p:nvSpPr>
          <p:cNvPr id="301" name="Google Shape;301;p49"/>
          <p:cNvSpPr txBox="1"/>
          <p:nvPr/>
        </p:nvSpPr>
        <p:spPr>
          <a:xfrm>
            <a:off x="1486018" y="1797525"/>
            <a:ext cx="16836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XGBoost</a:t>
            </a:r>
            <a:endParaRPr sz="1200"/>
          </a:p>
        </p:txBody>
      </p:sp>
      <p:sp>
        <p:nvSpPr>
          <p:cNvPr id="302" name="Google Shape;302;p49"/>
          <p:cNvSpPr txBox="1"/>
          <p:nvPr/>
        </p:nvSpPr>
        <p:spPr>
          <a:xfrm>
            <a:off x="4064224" y="1797525"/>
            <a:ext cx="14802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Random Forest</a:t>
            </a:r>
            <a:endParaRPr sz="1200"/>
          </a:p>
        </p:txBody>
      </p:sp>
      <p:sp>
        <p:nvSpPr>
          <p:cNvPr id="303" name="Google Shape;303;p49"/>
          <p:cNvSpPr txBox="1"/>
          <p:nvPr/>
        </p:nvSpPr>
        <p:spPr>
          <a:xfrm>
            <a:off x="6655950" y="1834750"/>
            <a:ext cx="1789200" cy="2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Logistic Regression</a:t>
            </a:r>
            <a:endParaRPr sz="1200"/>
          </a:p>
        </p:txBody>
      </p:sp>
      <p:sp>
        <p:nvSpPr>
          <p:cNvPr id="304" name="Google Shape;304;p49"/>
          <p:cNvSpPr txBox="1"/>
          <p:nvPr/>
        </p:nvSpPr>
        <p:spPr>
          <a:xfrm>
            <a:off x="0" y="4041875"/>
            <a:ext cx="8870100" cy="81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solidFill>
                  <a:schemeClr val="dk2"/>
                </a:solidFill>
                <a:latin typeface="Georgia"/>
                <a:ea typeface="Georgia"/>
                <a:cs typeface="Georgia"/>
                <a:sym typeface="Georgia"/>
              </a:rPr>
              <a:t>For all of the three models, the following features are highly critical:</a:t>
            </a:r>
            <a:endParaRPr sz="1600">
              <a:solidFill>
                <a:schemeClr val="dk2"/>
              </a:solidFill>
              <a:latin typeface="Georgia"/>
              <a:ea typeface="Georgia"/>
              <a:cs typeface="Georgia"/>
              <a:sym typeface="Georgia"/>
            </a:endParaRPr>
          </a:p>
          <a:p>
            <a:pPr marL="0" lvl="0" indent="0" algn="ctr" rtl="0">
              <a:spcBef>
                <a:spcPts val="0"/>
              </a:spcBef>
              <a:spcAft>
                <a:spcPts val="0"/>
              </a:spcAft>
              <a:buNone/>
            </a:pPr>
            <a:r>
              <a:rPr lang="en" sz="1800" b="1">
                <a:solidFill>
                  <a:schemeClr val="dk2"/>
                </a:solidFill>
                <a:latin typeface="Georgia"/>
                <a:ea typeface="Georgia"/>
                <a:cs typeface="Georgia"/>
                <a:sym typeface="Georgia"/>
              </a:rPr>
              <a:t>“N_investors”, ”duration”,”reputation”, “total funding”</a:t>
            </a:r>
            <a:endParaRPr sz="1800" b="1">
              <a:solidFill>
                <a:schemeClr val="dk2"/>
              </a:solidFill>
              <a:latin typeface="Georgia"/>
              <a:ea typeface="Georgia"/>
              <a:cs typeface="Georgia"/>
              <a:sym typeface="Georgia"/>
            </a:endParaRPr>
          </a:p>
        </p:txBody>
      </p:sp>
      <p:pic>
        <p:nvPicPr>
          <p:cNvPr id="305" name="Google Shape;305;p49"/>
          <p:cNvPicPr preferRelativeResize="0"/>
          <p:nvPr/>
        </p:nvPicPr>
        <p:blipFill>
          <a:blip r:embed="rId3">
            <a:alphaModFix/>
          </a:blip>
          <a:stretch>
            <a:fillRect/>
          </a:stretch>
        </p:blipFill>
        <p:spPr>
          <a:xfrm>
            <a:off x="6041000" y="1112887"/>
            <a:ext cx="2854475" cy="2745975"/>
          </a:xfrm>
          <a:prstGeom prst="rect">
            <a:avLst/>
          </a:prstGeom>
          <a:noFill/>
          <a:ln>
            <a:noFill/>
          </a:ln>
        </p:spPr>
      </p:pic>
      <p:pic>
        <p:nvPicPr>
          <p:cNvPr id="306" name="Google Shape;306;p49"/>
          <p:cNvPicPr preferRelativeResize="0"/>
          <p:nvPr/>
        </p:nvPicPr>
        <p:blipFill>
          <a:blip r:embed="rId4">
            <a:alphaModFix/>
          </a:blip>
          <a:stretch>
            <a:fillRect/>
          </a:stretch>
        </p:blipFill>
        <p:spPr>
          <a:xfrm>
            <a:off x="3103000" y="1112888"/>
            <a:ext cx="2938001" cy="2745975"/>
          </a:xfrm>
          <a:prstGeom prst="rect">
            <a:avLst/>
          </a:prstGeom>
          <a:noFill/>
          <a:ln>
            <a:noFill/>
          </a:ln>
        </p:spPr>
      </p:pic>
      <p:pic>
        <p:nvPicPr>
          <p:cNvPr id="307" name="Google Shape;307;p49"/>
          <p:cNvPicPr preferRelativeResize="0"/>
          <p:nvPr/>
        </p:nvPicPr>
        <p:blipFill>
          <a:blip r:embed="rId5">
            <a:alphaModFix/>
          </a:blip>
          <a:stretch>
            <a:fillRect/>
          </a:stretch>
        </p:blipFill>
        <p:spPr>
          <a:xfrm>
            <a:off x="222150" y="1112900"/>
            <a:ext cx="2880849" cy="2692558"/>
          </a:xfrm>
          <a:prstGeom prst="rect">
            <a:avLst/>
          </a:prstGeom>
          <a:noFill/>
          <a:ln>
            <a:noFill/>
          </a:ln>
        </p:spPr>
      </p:pic>
      <p:sp>
        <p:nvSpPr>
          <p:cNvPr id="308" name="Google Shape;308;p49"/>
          <p:cNvSpPr txBox="1"/>
          <p:nvPr/>
        </p:nvSpPr>
        <p:spPr>
          <a:xfrm>
            <a:off x="1486018" y="806925"/>
            <a:ext cx="16836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XGBoost</a:t>
            </a:r>
            <a:endParaRPr sz="1200"/>
          </a:p>
        </p:txBody>
      </p:sp>
      <p:sp>
        <p:nvSpPr>
          <p:cNvPr id="309" name="Google Shape;309;p49"/>
          <p:cNvSpPr txBox="1"/>
          <p:nvPr/>
        </p:nvSpPr>
        <p:spPr>
          <a:xfrm>
            <a:off x="4064224" y="806925"/>
            <a:ext cx="14802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Random Forest</a:t>
            </a:r>
            <a:endParaRPr sz="1200"/>
          </a:p>
        </p:txBody>
      </p:sp>
      <p:sp>
        <p:nvSpPr>
          <p:cNvPr id="310" name="Google Shape;310;p49"/>
          <p:cNvSpPr txBox="1"/>
          <p:nvPr/>
        </p:nvSpPr>
        <p:spPr>
          <a:xfrm>
            <a:off x="6655950" y="844150"/>
            <a:ext cx="1789200" cy="2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Logistic Regression</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accent5"/>
                </a:solidFill>
                <a:latin typeface="Georgia"/>
                <a:ea typeface="Georgia"/>
                <a:cs typeface="Georgia"/>
                <a:sym typeface="Georgia"/>
              </a:rPr>
              <a:t>Feature importance comparison</a:t>
            </a:r>
            <a:endParaRPr>
              <a:solidFill>
                <a:schemeClr val="dk2"/>
              </a:solidFill>
              <a:latin typeface="Georgia"/>
              <a:ea typeface="Georgia"/>
              <a:cs typeface="Georgia"/>
              <a:sym typeface="Georgia"/>
            </a:endParaRPr>
          </a:p>
          <a:p>
            <a:pPr marL="0" lvl="0" indent="0" algn="l" rtl="0">
              <a:spcBef>
                <a:spcPts val="1600"/>
              </a:spcBef>
              <a:spcAft>
                <a:spcPts val="0"/>
              </a:spcAft>
              <a:buNone/>
            </a:pPr>
            <a:endParaRPr/>
          </a:p>
        </p:txBody>
      </p:sp>
      <p:grpSp>
        <p:nvGrpSpPr>
          <p:cNvPr id="316" name="Google Shape;316;p50"/>
          <p:cNvGrpSpPr/>
          <p:nvPr/>
        </p:nvGrpSpPr>
        <p:grpSpPr>
          <a:xfrm>
            <a:off x="1201767" y="2829254"/>
            <a:ext cx="7060633" cy="1179857"/>
            <a:chOff x="2283025" y="2322568"/>
            <a:chExt cx="5267950" cy="643500"/>
          </a:xfrm>
        </p:grpSpPr>
        <p:sp>
          <p:nvSpPr>
            <p:cNvPr id="317" name="Google Shape;317;p50"/>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0"/>
            <p:cNvSpPr/>
            <p:nvPr/>
          </p:nvSpPr>
          <p:spPr>
            <a:xfrm flipH="1">
              <a:off x="2283025" y="2322575"/>
              <a:ext cx="1844400" cy="642600"/>
            </a:xfrm>
            <a:prstGeom prst="rect">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0"/>
            <p:cNvSpPr/>
            <p:nvPr/>
          </p:nvSpPr>
          <p:spPr>
            <a:xfrm rot="-5400000">
              <a:off x="3501574" y="1934671"/>
              <a:ext cx="643356" cy="1419149"/>
            </a:xfrm>
            <a:prstGeom prst="flowChartOffpageConnector">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0"/>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Georgia"/>
                  <a:ea typeface="Georgia"/>
                  <a:cs typeface="Georgia"/>
                  <a:sym typeface="Georgia"/>
                </a:rPr>
                <a:t>Manufacturing</a:t>
              </a:r>
              <a:endParaRPr sz="1600">
                <a:solidFill>
                  <a:srgbClr val="FFFFFF"/>
                </a:solidFill>
                <a:latin typeface="Roboto"/>
                <a:ea typeface="Roboto"/>
                <a:cs typeface="Roboto"/>
                <a:sym typeface="Roboto"/>
              </a:endParaRPr>
            </a:p>
          </p:txBody>
        </p:sp>
        <p:sp>
          <p:nvSpPr>
            <p:cNvPr id="321" name="Google Shape;321;p50"/>
            <p:cNvSpPr/>
            <p:nvPr/>
          </p:nvSpPr>
          <p:spPr>
            <a:xfrm>
              <a:off x="4737743" y="2399945"/>
              <a:ext cx="2621100" cy="566100"/>
            </a:xfrm>
            <a:prstGeom prst="rect">
              <a:avLst/>
            </a:prstGeom>
            <a:noFill/>
            <a:ln>
              <a:noFill/>
            </a:ln>
          </p:spPr>
          <p:txBody>
            <a:bodyPr spcFirstLastPara="1" wrap="square" lIns="91425" tIns="91425" rIns="91425" bIns="91425" anchor="ctr" anchorCtr="0">
              <a:noAutofit/>
            </a:bodyPr>
            <a:lstStyle/>
            <a:p>
              <a:pPr marL="457200" lvl="0" indent="-323850" algn="l" rtl="0">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Number of investors</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Georgia"/>
                <a:buChar char="●"/>
              </a:pPr>
              <a:r>
                <a:rPr lang="en" sz="1500">
                  <a:solidFill>
                    <a:srgbClr val="1B786E"/>
                  </a:solidFill>
                  <a:latin typeface="Georgia"/>
                  <a:ea typeface="Georgia"/>
                  <a:cs typeface="Georgia"/>
                  <a:sym typeface="Georgia"/>
                </a:rPr>
                <a:t>Reputation</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Georgia"/>
                <a:buChar char="●"/>
              </a:pPr>
              <a:r>
                <a:rPr lang="en" sz="1500">
                  <a:solidFill>
                    <a:srgbClr val="1B786E"/>
                  </a:solidFill>
                  <a:latin typeface="Georgia"/>
                  <a:ea typeface="Georgia"/>
                  <a:cs typeface="Georgia"/>
                  <a:sym typeface="Georgia"/>
                </a:rPr>
                <a:t>Total funding</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Duration</a:t>
              </a:r>
              <a:endParaRPr sz="1500">
                <a:solidFill>
                  <a:srgbClr val="1B786E"/>
                </a:solidFill>
                <a:latin typeface="Georgia"/>
                <a:ea typeface="Georgia"/>
                <a:cs typeface="Georgia"/>
                <a:sym typeface="Georgia"/>
              </a:endParaRPr>
            </a:p>
            <a:p>
              <a:pPr marL="457200" lvl="0" indent="0" algn="l" rtl="0">
                <a:lnSpc>
                  <a:spcPct val="115000"/>
                </a:lnSpc>
                <a:spcBef>
                  <a:spcPts val="0"/>
                </a:spcBef>
                <a:spcAft>
                  <a:spcPts val="0"/>
                </a:spcAft>
                <a:buNone/>
              </a:pPr>
              <a:endParaRPr sz="1500">
                <a:solidFill>
                  <a:srgbClr val="1B786E"/>
                </a:solidFill>
                <a:latin typeface="Roboto"/>
                <a:ea typeface="Roboto"/>
                <a:cs typeface="Roboto"/>
                <a:sym typeface="Roboto"/>
              </a:endParaRPr>
            </a:p>
          </p:txBody>
        </p:sp>
      </p:grpSp>
      <p:grpSp>
        <p:nvGrpSpPr>
          <p:cNvPr id="322" name="Google Shape;322;p50"/>
          <p:cNvGrpSpPr/>
          <p:nvPr/>
        </p:nvGrpSpPr>
        <p:grpSpPr>
          <a:xfrm>
            <a:off x="1204921" y="1604131"/>
            <a:ext cx="7057473" cy="1225160"/>
            <a:chOff x="2283025" y="2322568"/>
            <a:chExt cx="5267950" cy="643500"/>
          </a:xfrm>
        </p:grpSpPr>
        <p:sp>
          <p:nvSpPr>
            <p:cNvPr id="323" name="Google Shape;323;p50"/>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0"/>
            <p:cNvSpPr/>
            <p:nvPr/>
          </p:nvSpPr>
          <p:spPr>
            <a:xfrm flipH="1">
              <a:off x="2283025" y="2322575"/>
              <a:ext cx="1844400" cy="642600"/>
            </a:xfrm>
            <a:prstGeom prst="rect">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0"/>
            <p:cNvSpPr/>
            <p:nvPr/>
          </p:nvSpPr>
          <p:spPr>
            <a:xfrm rot="-5400000">
              <a:off x="3501574" y="1934671"/>
              <a:ext cx="643356" cy="1419149"/>
            </a:xfrm>
            <a:prstGeom prst="flowChartOffpageConnector">
              <a:avLst/>
            </a:prstGeom>
            <a:solidFill>
              <a:srgbClr val="1B7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0"/>
            <p:cNvSpPr/>
            <p:nvPr/>
          </p:nvSpPr>
          <p:spPr>
            <a:xfrm>
              <a:off x="2447152" y="2395926"/>
              <a:ext cx="1940700" cy="495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a:solidFill>
                    <a:srgbClr val="FFFFFF"/>
                  </a:solidFill>
                  <a:latin typeface="Georgia"/>
                  <a:ea typeface="Georgia"/>
                  <a:cs typeface="Georgia"/>
                  <a:sym typeface="Georgia"/>
                </a:rPr>
                <a:t> Services</a:t>
              </a:r>
              <a:endParaRPr sz="1800">
                <a:solidFill>
                  <a:srgbClr val="FFFFFF"/>
                </a:solidFill>
                <a:latin typeface="Georgia"/>
                <a:ea typeface="Georgia"/>
                <a:cs typeface="Georgia"/>
                <a:sym typeface="Georgia"/>
              </a:endParaRPr>
            </a:p>
            <a:p>
              <a:pPr marL="0" lvl="0" indent="0" algn="l" rtl="0">
                <a:lnSpc>
                  <a:spcPct val="115000"/>
                </a:lnSpc>
                <a:spcBef>
                  <a:spcPts val="0"/>
                </a:spcBef>
                <a:spcAft>
                  <a:spcPts val="0"/>
                </a:spcAft>
                <a:buNone/>
              </a:pPr>
              <a:endParaRPr sz="1000">
                <a:solidFill>
                  <a:srgbClr val="FFFFFF"/>
                </a:solidFill>
                <a:latin typeface="Roboto Medium"/>
                <a:ea typeface="Roboto Medium"/>
                <a:cs typeface="Roboto Medium"/>
                <a:sym typeface="Roboto Medium"/>
              </a:endParaRPr>
            </a:p>
          </p:txBody>
        </p:sp>
        <p:sp>
          <p:nvSpPr>
            <p:cNvPr id="327" name="Google Shape;327;p50"/>
            <p:cNvSpPr/>
            <p:nvPr/>
          </p:nvSpPr>
          <p:spPr>
            <a:xfrm>
              <a:off x="4727810" y="2323746"/>
              <a:ext cx="2631300" cy="642300"/>
            </a:xfrm>
            <a:prstGeom prst="rect">
              <a:avLst/>
            </a:prstGeom>
            <a:noFill/>
            <a:ln>
              <a:noFill/>
            </a:ln>
          </p:spPr>
          <p:txBody>
            <a:bodyPr spcFirstLastPara="1" wrap="square" lIns="91425" tIns="91425" rIns="91425" bIns="91425" anchor="ctr" anchorCtr="0">
              <a:noAutofit/>
            </a:bodyPr>
            <a:lstStyle/>
            <a:p>
              <a:pPr marL="457200" lvl="0" indent="-323850" algn="l" rtl="0">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Reputation</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Georgia"/>
                <a:buChar char="●"/>
              </a:pPr>
              <a:r>
                <a:rPr lang="en" sz="1500">
                  <a:solidFill>
                    <a:srgbClr val="1B786E"/>
                  </a:solidFill>
                  <a:latin typeface="Georgia"/>
                  <a:ea typeface="Georgia"/>
                  <a:cs typeface="Georgia"/>
                  <a:sym typeface="Georgia"/>
                </a:rPr>
                <a:t>Total funding</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Number of investors</a:t>
              </a:r>
              <a:endParaRPr sz="1500">
                <a:solidFill>
                  <a:srgbClr val="1B786E"/>
                </a:solidFill>
                <a:latin typeface="Georgia"/>
                <a:ea typeface="Georgia"/>
                <a:cs typeface="Georgia"/>
                <a:sym typeface="Georgia"/>
              </a:endParaRPr>
            </a:p>
            <a:p>
              <a:pPr marL="457200" lvl="0" indent="-323850" algn="l" rtl="0">
                <a:spcBef>
                  <a:spcPts val="0"/>
                </a:spcBef>
                <a:spcAft>
                  <a:spcPts val="0"/>
                </a:spcAft>
                <a:buClr>
                  <a:srgbClr val="1B786E"/>
                </a:buClr>
                <a:buSzPts val="1500"/>
                <a:buFont typeface="Roboto"/>
                <a:buChar char="●"/>
              </a:pPr>
              <a:r>
                <a:rPr lang="en" sz="1500">
                  <a:solidFill>
                    <a:srgbClr val="1B786E"/>
                  </a:solidFill>
                  <a:latin typeface="Georgia"/>
                  <a:ea typeface="Georgia"/>
                  <a:cs typeface="Georgia"/>
                  <a:sym typeface="Georgia"/>
                </a:rPr>
                <a:t>Duration</a:t>
              </a:r>
              <a:endParaRPr sz="1500">
                <a:solidFill>
                  <a:srgbClr val="1B786E"/>
                </a:solidFill>
                <a:latin typeface="Georgia"/>
                <a:ea typeface="Georgia"/>
                <a:cs typeface="Georgia"/>
                <a:sym typeface="Georgia"/>
              </a:endParaRPr>
            </a:p>
            <a:p>
              <a:pPr marL="457200" lvl="0" indent="0" algn="l" rtl="0">
                <a:lnSpc>
                  <a:spcPct val="115000"/>
                </a:lnSpc>
                <a:spcBef>
                  <a:spcPts val="0"/>
                </a:spcBef>
                <a:spcAft>
                  <a:spcPts val="0"/>
                </a:spcAft>
                <a:buNone/>
              </a:pPr>
              <a:endParaRPr sz="800">
                <a:solidFill>
                  <a:srgbClr val="1B786E"/>
                </a:solidFill>
                <a:latin typeface="Roboto"/>
                <a:ea typeface="Roboto"/>
                <a:cs typeface="Roboto"/>
                <a:sym typeface="Roboto"/>
              </a:endParaRPr>
            </a:p>
          </p:txBody>
        </p:sp>
      </p:grpSp>
      <p:sp>
        <p:nvSpPr>
          <p:cNvPr id="328" name="Google Shape;328;p50"/>
          <p:cNvSpPr txBox="1"/>
          <p:nvPr/>
        </p:nvSpPr>
        <p:spPr>
          <a:xfrm>
            <a:off x="674950" y="4340550"/>
            <a:ext cx="7645500" cy="32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Georgia"/>
                <a:ea typeface="Georgia"/>
                <a:cs typeface="Georgia"/>
                <a:sym typeface="Georgia"/>
              </a:rPr>
              <a:t>                 Want success? Get more funding and prestigious investors!</a:t>
            </a:r>
            <a:endParaRPr sz="1800">
              <a:solidFill>
                <a:schemeClr val="dk2"/>
              </a:solidFill>
              <a:latin typeface="Georgia"/>
              <a:ea typeface="Georgia"/>
              <a:cs typeface="Georgia"/>
              <a:sym typeface="Georgi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1"/>
          <p:cNvSpPr txBox="1">
            <a:spLocks noGrp="1"/>
          </p:cNvSpPr>
          <p:nvPr>
            <p:ph type="title"/>
          </p:nvPr>
        </p:nvSpPr>
        <p:spPr>
          <a:xfrm>
            <a:off x="3083775" y="1999050"/>
            <a:ext cx="8048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chemeClr val="dk2"/>
                </a:solidFill>
                <a:latin typeface="Georgia"/>
                <a:ea typeface="Georgia"/>
                <a:cs typeface="Georgia"/>
                <a:sym typeface="Georgia"/>
              </a:rPr>
              <a:t>Appendix</a:t>
            </a:r>
            <a:endParaRPr sz="3600">
              <a:solidFill>
                <a:schemeClr val="dk2"/>
              </a:solidFill>
              <a:latin typeface="Georgia"/>
              <a:ea typeface="Georgia"/>
              <a:cs typeface="Georgia"/>
              <a:sym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SHAP</a:t>
            </a:r>
            <a:endParaRPr/>
          </a:p>
        </p:txBody>
      </p:sp>
      <p:pic>
        <p:nvPicPr>
          <p:cNvPr id="339" name="Google Shape;339;p52"/>
          <p:cNvPicPr preferRelativeResize="0"/>
          <p:nvPr/>
        </p:nvPicPr>
        <p:blipFill>
          <a:blip r:embed="rId3">
            <a:alphaModFix/>
          </a:blip>
          <a:stretch>
            <a:fillRect/>
          </a:stretch>
        </p:blipFill>
        <p:spPr>
          <a:xfrm>
            <a:off x="624500" y="1209100"/>
            <a:ext cx="7894998" cy="3138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SHAP</a:t>
            </a:r>
            <a:endParaRPr/>
          </a:p>
        </p:txBody>
      </p:sp>
      <p:pic>
        <p:nvPicPr>
          <p:cNvPr id="345" name="Google Shape;345;p53"/>
          <p:cNvPicPr preferRelativeResize="0"/>
          <p:nvPr/>
        </p:nvPicPr>
        <p:blipFill>
          <a:blip r:embed="rId3">
            <a:alphaModFix/>
          </a:blip>
          <a:stretch>
            <a:fillRect/>
          </a:stretch>
        </p:blipFill>
        <p:spPr>
          <a:xfrm>
            <a:off x="311700" y="1522250"/>
            <a:ext cx="8520600" cy="2784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54"/>
          <p:cNvPicPr preferRelativeResize="0"/>
          <p:nvPr/>
        </p:nvPicPr>
        <p:blipFill>
          <a:blip r:embed="rId3">
            <a:alphaModFix/>
          </a:blip>
          <a:stretch>
            <a:fillRect/>
          </a:stretch>
        </p:blipFill>
        <p:spPr>
          <a:xfrm>
            <a:off x="457200" y="152400"/>
            <a:ext cx="8097669" cy="48386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55"/>
          <p:cNvPicPr preferRelativeResize="0"/>
          <p:nvPr/>
        </p:nvPicPr>
        <p:blipFill>
          <a:blip r:embed="rId3">
            <a:alphaModFix/>
          </a:blip>
          <a:stretch>
            <a:fillRect/>
          </a:stretch>
        </p:blipFill>
        <p:spPr>
          <a:xfrm>
            <a:off x="762631" y="0"/>
            <a:ext cx="7618739"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Model Evaluation Metrics</a:t>
            </a:r>
            <a:endParaRPr>
              <a:solidFill>
                <a:schemeClr val="accent5"/>
              </a:solidFill>
              <a:latin typeface="Georgia"/>
              <a:ea typeface="Georgia"/>
              <a:cs typeface="Georgia"/>
              <a:sym typeface="Georgia"/>
            </a:endParaRPr>
          </a:p>
        </p:txBody>
      </p:sp>
      <p:pic>
        <p:nvPicPr>
          <p:cNvPr id="361" name="Google Shape;361;p56"/>
          <p:cNvPicPr preferRelativeResize="0"/>
          <p:nvPr/>
        </p:nvPicPr>
        <p:blipFill>
          <a:blip r:embed="rId3">
            <a:alphaModFix/>
          </a:blip>
          <a:stretch>
            <a:fillRect/>
          </a:stretch>
        </p:blipFill>
        <p:spPr>
          <a:xfrm>
            <a:off x="403300" y="1292475"/>
            <a:ext cx="8428998" cy="2800011"/>
          </a:xfrm>
          <a:prstGeom prst="rect">
            <a:avLst/>
          </a:prstGeom>
          <a:noFill/>
          <a:ln>
            <a:noFill/>
          </a:ln>
        </p:spPr>
      </p:pic>
      <p:pic>
        <p:nvPicPr>
          <p:cNvPr id="362" name="Google Shape;362;p56"/>
          <p:cNvPicPr preferRelativeResize="0"/>
          <p:nvPr/>
        </p:nvPicPr>
        <p:blipFill>
          <a:blip r:embed="rId4">
            <a:alphaModFix/>
          </a:blip>
          <a:stretch>
            <a:fillRect/>
          </a:stretch>
        </p:blipFill>
        <p:spPr>
          <a:xfrm>
            <a:off x="8241900" y="4270225"/>
            <a:ext cx="658975" cy="658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5"/>
                </a:solidFill>
                <a:latin typeface="Georgia"/>
                <a:ea typeface="Georgia"/>
                <a:cs typeface="Georgia"/>
                <a:sym typeface="Georgia"/>
              </a:rPr>
              <a:t>Model Evaluation Metrics</a:t>
            </a:r>
            <a:endParaRPr>
              <a:solidFill>
                <a:schemeClr val="accent5"/>
              </a:solidFill>
              <a:latin typeface="Georgia"/>
              <a:ea typeface="Georgia"/>
              <a:cs typeface="Georgia"/>
              <a:sym typeface="Georgia"/>
            </a:endParaRPr>
          </a:p>
          <a:p>
            <a:pPr marL="0" lvl="0" indent="0" algn="l" rtl="0">
              <a:spcBef>
                <a:spcPts val="0"/>
              </a:spcBef>
              <a:spcAft>
                <a:spcPts val="0"/>
              </a:spcAft>
              <a:buNone/>
            </a:pPr>
            <a:endParaRPr/>
          </a:p>
        </p:txBody>
      </p:sp>
      <p:pic>
        <p:nvPicPr>
          <p:cNvPr id="368" name="Google Shape;368;p57"/>
          <p:cNvPicPr preferRelativeResize="0"/>
          <p:nvPr/>
        </p:nvPicPr>
        <p:blipFill>
          <a:blip r:embed="rId3">
            <a:alphaModFix/>
          </a:blip>
          <a:stretch>
            <a:fillRect/>
          </a:stretch>
        </p:blipFill>
        <p:spPr>
          <a:xfrm>
            <a:off x="304800" y="1174975"/>
            <a:ext cx="8581125" cy="2818625"/>
          </a:xfrm>
          <a:prstGeom prst="rect">
            <a:avLst/>
          </a:prstGeom>
          <a:noFill/>
          <a:ln>
            <a:noFill/>
          </a:ln>
        </p:spPr>
      </p:pic>
      <p:pic>
        <p:nvPicPr>
          <p:cNvPr id="369" name="Google Shape;369;p57"/>
          <p:cNvPicPr preferRelativeResize="0"/>
          <p:nvPr/>
        </p:nvPicPr>
        <p:blipFill>
          <a:blip r:embed="rId4">
            <a:alphaModFix/>
          </a:blip>
          <a:stretch>
            <a:fillRect/>
          </a:stretch>
        </p:blipFill>
        <p:spPr>
          <a:xfrm>
            <a:off x="8173325" y="4202525"/>
            <a:ext cx="658975" cy="658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8"/>
          <p:cNvSpPr txBox="1">
            <a:spLocks noGrp="1"/>
          </p:cNvSpPr>
          <p:nvPr>
            <p:ph type="title"/>
          </p:nvPr>
        </p:nvSpPr>
        <p:spPr>
          <a:xfrm>
            <a:off x="311700" y="2758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5"/>
                </a:solidFill>
                <a:latin typeface="Georgia"/>
                <a:ea typeface="Georgia"/>
                <a:cs typeface="Georgia"/>
                <a:sym typeface="Georgia"/>
              </a:rPr>
              <a:t>Random Forest Tree Split </a:t>
            </a:r>
            <a:r>
              <a:rPr lang="en" sz="1800">
                <a:solidFill>
                  <a:schemeClr val="accent5"/>
                </a:solidFill>
                <a:latin typeface="Georgia"/>
                <a:ea typeface="Georgia"/>
                <a:cs typeface="Georgia"/>
                <a:sym typeface="Georgia"/>
              </a:rPr>
              <a:t>partial example</a:t>
            </a:r>
            <a:endParaRPr sz="1800">
              <a:solidFill>
                <a:schemeClr val="accent5"/>
              </a:solidFill>
              <a:latin typeface="Georgia"/>
              <a:ea typeface="Georgia"/>
              <a:cs typeface="Georgia"/>
              <a:sym typeface="Georgia"/>
            </a:endParaRPr>
          </a:p>
        </p:txBody>
      </p:sp>
      <p:pic>
        <p:nvPicPr>
          <p:cNvPr id="375" name="Google Shape;375;p58"/>
          <p:cNvPicPr preferRelativeResize="0"/>
          <p:nvPr/>
        </p:nvPicPr>
        <p:blipFill>
          <a:blip r:embed="rId3">
            <a:alphaModFix/>
          </a:blip>
          <a:stretch>
            <a:fillRect/>
          </a:stretch>
        </p:blipFill>
        <p:spPr>
          <a:xfrm>
            <a:off x="311700" y="1005850"/>
            <a:ext cx="8334225" cy="3699640"/>
          </a:xfrm>
          <a:prstGeom prst="rect">
            <a:avLst/>
          </a:prstGeom>
          <a:noFill/>
          <a:ln>
            <a:noFill/>
          </a:ln>
          <a:effectLst>
            <a:outerShdw blurRad="357188" dist="76200" dir="14640000" algn="bl" rotWithShape="0">
              <a:srgbClr val="000000">
                <a:alpha val="50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59"/>
          <p:cNvSpPr txBox="1">
            <a:spLocks noGrp="1"/>
          </p:cNvSpPr>
          <p:nvPr>
            <p:ph type="title"/>
          </p:nvPr>
        </p:nvSpPr>
        <p:spPr>
          <a:xfrm>
            <a:off x="311700" y="1282550"/>
            <a:ext cx="2873700" cy="3353700"/>
          </a:xfrm>
          <a:prstGeom prst="rect">
            <a:avLst/>
          </a:prstGeom>
          <a:solidFill>
            <a:srgbClr val="EFEFEF"/>
          </a:solidFill>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latin typeface="Georgia"/>
                <a:ea typeface="Georgia"/>
                <a:cs typeface="Georgia"/>
                <a:sym typeface="Georgia"/>
              </a:rPr>
              <a:t>To get an overview of which features are most important for a model we can plot the </a:t>
            </a:r>
            <a:r>
              <a:rPr lang="en" sz="1600" u="sng">
                <a:solidFill>
                  <a:schemeClr val="hlink"/>
                </a:solidFill>
                <a:latin typeface="Georgia"/>
                <a:ea typeface="Georgia"/>
                <a:cs typeface="Georgia"/>
                <a:sym typeface="Georgia"/>
                <a:hlinkClick r:id="rId3"/>
              </a:rPr>
              <a:t>SHAP</a:t>
            </a:r>
            <a:r>
              <a:rPr lang="en" sz="1600">
                <a:solidFill>
                  <a:schemeClr val="dk2"/>
                </a:solidFill>
                <a:latin typeface="Georgia"/>
                <a:ea typeface="Georgia"/>
                <a:cs typeface="Georgia"/>
                <a:sym typeface="Georgia"/>
              </a:rPr>
              <a:t> values of </a:t>
            </a:r>
            <a:r>
              <a:rPr lang="en" sz="1600" b="1">
                <a:solidFill>
                  <a:schemeClr val="dk2"/>
                </a:solidFill>
                <a:latin typeface="Georgia"/>
                <a:ea typeface="Georgia"/>
                <a:cs typeface="Georgia"/>
                <a:sym typeface="Georgia"/>
              </a:rPr>
              <a:t>every feature</a:t>
            </a:r>
            <a:r>
              <a:rPr lang="en" sz="1600">
                <a:solidFill>
                  <a:schemeClr val="dk2"/>
                </a:solidFill>
                <a:latin typeface="Georgia"/>
                <a:ea typeface="Georgia"/>
                <a:cs typeface="Georgia"/>
                <a:sym typeface="Georgia"/>
              </a:rPr>
              <a:t> for </a:t>
            </a:r>
            <a:r>
              <a:rPr lang="en" sz="1600" b="1">
                <a:solidFill>
                  <a:schemeClr val="dk2"/>
                </a:solidFill>
                <a:latin typeface="Georgia"/>
                <a:ea typeface="Georgia"/>
                <a:cs typeface="Georgia"/>
                <a:sym typeface="Georgia"/>
              </a:rPr>
              <a:t>every sample</a:t>
            </a:r>
            <a:r>
              <a:rPr lang="en" sz="1600">
                <a:solidFill>
                  <a:schemeClr val="dk2"/>
                </a:solidFill>
                <a:latin typeface="Georgia"/>
                <a:ea typeface="Georgia"/>
                <a:cs typeface="Georgia"/>
                <a:sym typeface="Georgia"/>
              </a:rPr>
              <a:t>. </a:t>
            </a:r>
            <a:endParaRPr sz="1600">
              <a:solidFill>
                <a:schemeClr val="dk2"/>
              </a:solidFill>
              <a:latin typeface="Georgia"/>
              <a:ea typeface="Georgia"/>
              <a:cs typeface="Georgia"/>
              <a:sym typeface="Georgia"/>
            </a:endParaRPr>
          </a:p>
          <a:p>
            <a:pPr marL="0" lvl="0" indent="0" algn="l" rtl="0">
              <a:spcBef>
                <a:spcPts val="0"/>
              </a:spcBef>
              <a:spcAft>
                <a:spcPts val="0"/>
              </a:spcAft>
              <a:buNone/>
            </a:pPr>
            <a:endParaRPr sz="1600">
              <a:solidFill>
                <a:schemeClr val="dk2"/>
              </a:solidFill>
              <a:latin typeface="Georgia"/>
              <a:ea typeface="Georgia"/>
              <a:cs typeface="Georgia"/>
              <a:sym typeface="Georgia"/>
            </a:endParaRPr>
          </a:p>
          <a:p>
            <a:pPr marL="0" lvl="0" indent="0" algn="l" rtl="0">
              <a:spcBef>
                <a:spcPts val="0"/>
              </a:spcBef>
              <a:spcAft>
                <a:spcPts val="0"/>
              </a:spcAft>
              <a:buNone/>
            </a:pPr>
            <a:r>
              <a:rPr lang="en" sz="1600">
                <a:solidFill>
                  <a:schemeClr val="dk2"/>
                </a:solidFill>
                <a:latin typeface="Georgia"/>
                <a:ea typeface="Georgia"/>
                <a:cs typeface="Georgia"/>
                <a:sym typeface="Georgia"/>
              </a:rPr>
              <a:t>The color represents the feature value (red high, blue low). This reveals for example that a high sector_10 value (in a binary case is 1) lowers the predicted value of success.</a:t>
            </a:r>
            <a:endParaRPr sz="1600">
              <a:solidFill>
                <a:schemeClr val="dk2"/>
              </a:solidFill>
              <a:latin typeface="Georgia"/>
              <a:ea typeface="Georgia"/>
              <a:cs typeface="Georgia"/>
              <a:sym typeface="Georgia"/>
            </a:endParaRPr>
          </a:p>
        </p:txBody>
      </p:sp>
      <p:pic>
        <p:nvPicPr>
          <p:cNvPr id="381" name="Google Shape;381;p59"/>
          <p:cNvPicPr preferRelativeResize="0"/>
          <p:nvPr/>
        </p:nvPicPr>
        <p:blipFill>
          <a:blip r:embed="rId4">
            <a:alphaModFix/>
          </a:blip>
          <a:stretch>
            <a:fillRect/>
          </a:stretch>
        </p:blipFill>
        <p:spPr>
          <a:xfrm>
            <a:off x="3696750" y="131525"/>
            <a:ext cx="5043449" cy="4935774"/>
          </a:xfrm>
          <a:prstGeom prst="rect">
            <a:avLst/>
          </a:prstGeom>
          <a:noFill/>
          <a:ln>
            <a:noFill/>
          </a:ln>
          <a:effectLst>
            <a:outerShdw blurRad="485775" dist="304800" dir="7200000" algn="bl" rotWithShape="0">
              <a:srgbClr val="000000">
                <a:alpha val="50000"/>
              </a:srgbClr>
            </a:outerShdw>
          </a:effectLst>
        </p:spPr>
      </p:pic>
      <p:sp>
        <p:nvSpPr>
          <p:cNvPr id="382" name="Google Shape;382;p59"/>
          <p:cNvSpPr txBox="1"/>
          <p:nvPr/>
        </p:nvSpPr>
        <p:spPr>
          <a:xfrm>
            <a:off x="311700" y="271025"/>
            <a:ext cx="3699300" cy="8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accent5"/>
                </a:solidFill>
                <a:latin typeface="Georgia"/>
                <a:ea typeface="Georgia"/>
                <a:cs typeface="Georgia"/>
                <a:sym typeface="Georgia"/>
              </a:rPr>
              <a:t>XGBoost Intrepretation</a:t>
            </a:r>
            <a:endParaRPr sz="2400" b="1">
              <a:solidFill>
                <a:schemeClr val="accent5"/>
              </a:solidFill>
              <a:latin typeface="Georgia"/>
              <a:ea typeface="Georgia"/>
              <a:cs typeface="Georgia"/>
              <a:sym typeface="Georg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387" name="Google Shape;387;p60"/>
          <p:cNvPicPr preferRelativeResize="0"/>
          <p:nvPr/>
        </p:nvPicPr>
        <p:blipFill>
          <a:blip r:embed="rId3">
            <a:alphaModFix/>
          </a:blip>
          <a:stretch>
            <a:fillRect/>
          </a:stretch>
        </p:blipFill>
        <p:spPr>
          <a:xfrm>
            <a:off x="0" y="1590015"/>
            <a:ext cx="9143999" cy="1353871"/>
          </a:xfrm>
          <a:prstGeom prst="rect">
            <a:avLst/>
          </a:prstGeom>
          <a:noFill/>
          <a:ln>
            <a:noFill/>
          </a:ln>
          <a:effectLst>
            <a:outerShdw blurRad="628650" dist="209550" dir="9000000" algn="bl" rotWithShape="0">
              <a:srgbClr val="000000">
                <a:alpha val="70000"/>
              </a:srgbClr>
            </a:outerShdw>
          </a:effectLst>
        </p:spPr>
      </p:pic>
      <p:sp>
        <p:nvSpPr>
          <p:cNvPr id="388" name="Google Shape;388;p60"/>
          <p:cNvSpPr txBox="1"/>
          <p:nvPr/>
        </p:nvSpPr>
        <p:spPr>
          <a:xfrm>
            <a:off x="359075" y="299025"/>
            <a:ext cx="4962000" cy="8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accent5"/>
                </a:solidFill>
                <a:latin typeface="Georgia"/>
                <a:ea typeface="Georgia"/>
                <a:cs typeface="Georgia"/>
                <a:sym typeface="Georgia"/>
              </a:rPr>
              <a:t>XGBoost </a:t>
            </a:r>
            <a:endParaRPr sz="2400" b="1">
              <a:solidFill>
                <a:schemeClr val="accent5"/>
              </a:solidFill>
              <a:latin typeface="Georgia"/>
              <a:ea typeface="Georgia"/>
              <a:cs typeface="Georgia"/>
              <a:sym typeface="Georgia"/>
            </a:endParaRPr>
          </a:p>
          <a:p>
            <a:pPr marL="0" lvl="0" indent="0" algn="l" rtl="0">
              <a:spcBef>
                <a:spcPts val="0"/>
              </a:spcBef>
              <a:spcAft>
                <a:spcPts val="0"/>
              </a:spcAft>
              <a:buNone/>
            </a:pPr>
            <a:endParaRPr b="1">
              <a:solidFill>
                <a:schemeClr val="accent5"/>
              </a:solidFill>
              <a:latin typeface="Georgia"/>
              <a:ea typeface="Georgia"/>
              <a:cs typeface="Georgia"/>
              <a:sym typeface="Georgia"/>
            </a:endParaRPr>
          </a:p>
          <a:p>
            <a:pPr marL="0" lvl="0" indent="0" algn="l" rtl="0">
              <a:spcBef>
                <a:spcPts val="0"/>
              </a:spcBef>
              <a:spcAft>
                <a:spcPts val="0"/>
              </a:spcAft>
              <a:buNone/>
            </a:pPr>
            <a:r>
              <a:rPr lang="en" sz="1800" b="1">
                <a:solidFill>
                  <a:schemeClr val="accent5"/>
                </a:solidFill>
                <a:latin typeface="Georgia"/>
                <a:ea typeface="Georgia"/>
                <a:cs typeface="Georgia"/>
                <a:sym typeface="Georgia"/>
              </a:rPr>
              <a:t>one sample interpretation</a:t>
            </a:r>
            <a:endParaRPr sz="1800" b="1">
              <a:solidFill>
                <a:schemeClr val="accent5"/>
              </a:solidFill>
              <a:latin typeface="Georgia"/>
              <a:ea typeface="Georgia"/>
              <a:cs typeface="Georgia"/>
              <a:sym typeface="Georgia"/>
            </a:endParaRPr>
          </a:p>
        </p:txBody>
      </p:sp>
      <p:sp>
        <p:nvSpPr>
          <p:cNvPr id="389" name="Google Shape;389;p60"/>
          <p:cNvSpPr txBox="1"/>
          <p:nvPr/>
        </p:nvSpPr>
        <p:spPr>
          <a:xfrm>
            <a:off x="484950" y="3378375"/>
            <a:ext cx="8217900" cy="16335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latin typeface="Georgia"/>
                <a:ea typeface="Georgia"/>
                <a:cs typeface="Georgia"/>
                <a:sym typeface="Georgia"/>
              </a:rPr>
              <a:t>The above explanation shows features each contributing to push the model output from the base value (the average model output over the training dataset we passed) to the model output. Features pushing the prediction higher are shown in red, those pushing the prediction lower are in blue (these force plots are introduced in our </a:t>
            </a:r>
            <a:r>
              <a:rPr lang="en" sz="1600" u="sng">
                <a:solidFill>
                  <a:schemeClr val="accent5"/>
                </a:solidFill>
                <a:latin typeface="Georgia"/>
                <a:ea typeface="Georgia"/>
                <a:cs typeface="Georgia"/>
                <a:sym typeface="Georgia"/>
                <a:hlinkClick r:id="rId4">
                  <a:extLst>
                    <a:ext uri="{A12FA001-AC4F-418D-AE19-62706E023703}">
                      <ahyp:hlinkClr xmlns:ahyp="http://schemas.microsoft.com/office/drawing/2018/hyperlinkcolor" val="tx"/>
                    </a:ext>
                  </a:extLst>
                </a:hlinkClick>
              </a:rPr>
              <a:t>Nature BME paper</a:t>
            </a:r>
            <a:r>
              <a:rPr lang="en" sz="1600">
                <a:solidFill>
                  <a:schemeClr val="dk2"/>
                </a:solidFill>
                <a:latin typeface="Georgia"/>
                <a:ea typeface="Georgia"/>
                <a:cs typeface="Georgia"/>
                <a:sym typeface="Georgia"/>
              </a:rPr>
              <a:t>).</a:t>
            </a:r>
            <a:endParaRPr sz="1600">
              <a:solidFill>
                <a:schemeClr val="dk2"/>
              </a:solidFill>
              <a:latin typeface="Georgia"/>
              <a:ea typeface="Georgia"/>
              <a:cs typeface="Georgia"/>
              <a:sym typeface="Georg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61"/>
          <p:cNvSpPr txBox="1">
            <a:spLocks noGrp="1"/>
          </p:cNvSpPr>
          <p:nvPr>
            <p:ph type="title"/>
          </p:nvPr>
        </p:nvSpPr>
        <p:spPr>
          <a:xfrm>
            <a:off x="311700" y="279400"/>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accent5"/>
                </a:solidFill>
                <a:latin typeface="Georgia"/>
                <a:ea typeface="Georgia"/>
                <a:cs typeface="Georgia"/>
                <a:sym typeface="Georgia"/>
              </a:rPr>
              <a:t>Feature importance comparison</a:t>
            </a:r>
            <a:endParaRPr>
              <a:solidFill>
                <a:schemeClr val="dk2"/>
              </a:solidFill>
            </a:endParaRPr>
          </a:p>
          <a:p>
            <a:pPr marL="0" lvl="0" indent="0" algn="l" rtl="0">
              <a:spcBef>
                <a:spcPts val="1600"/>
              </a:spcBef>
              <a:spcAft>
                <a:spcPts val="0"/>
              </a:spcAft>
              <a:buNone/>
            </a:pPr>
            <a:endParaRPr/>
          </a:p>
        </p:txBody>
      </p:sp>
      <p:pic>
        <p:nvPicPr>
          <p:cNvPr id="395" name="Google Shape;395;p61"/>
          <p:cNvPicPr preferRelativeResize="0"/>
          <p:nvPr/>
        </p:nvPicPr>
        <p:blipFill>
          <a:blip r:embed="rId3">
            <a:alphaModFix/>
          </a:blip>
          <a:stretch>
            <a:fillRect/>
          </a:stretch>
        </p:blipFill>
        <p:spPr>
          <a:xfrm>
            <a:off x="311700" y="2061139"/>
            <a:ext cx="2554300" cy="2825237"/>
          </a:xfrm>
          <a:prstGeom prst="rect">
            <a:avLst/>
          </a:prstGeom>
          <a:noFill/>
          <a:ln>
            <a:noFill/>
          </a:ln>
        </p:spPr>
      </p:pic>
      <p:pic>
        <p:nvPicPr>
          <p:cNvPr id="396" name="Google Shape;396;p61"/>
          <p:cNvPicPr preferRelativeResize="0"/>
          <p:nvPr/>
        </p:nvPicPr>
        <p:blipFill>
          <a:blip r:embed="rId4">
            <a:alphaModFix/>
          </a:blip>
          <a:stretch>
            <a:fillRect/>
          </a:stretch>
        </p:blipFill>
        <p:spPr>
          <a:xfrm>
            <a:off x="3174880" y="2046475"/>
            <a:ext cx="2616272" cy="2893771"/>
          </a:xfrm>
          <a:prstGeom prst="rect">
            <a:avLst/>
          </a:prstGeom>
          <a:noFill/>
          <a:ln>
            <a:noFill/>
          </a:ln>
        </p:spPr>
      </p:pic>
      <p:sp>
        <p:nvSpPr>
          <p:cNvPr id="397" name="Google Shape;397;p61"/>
          <p:cNvSpPr txBox="1"/>
          <p:nvPr/>
        </p:nvSpPr>
        <p:spPr>
          <a:xfrm>
            <a:off x="1486018" y="1797525"/>
            <a:ext cx="16836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XGBoost</a:t>
            </a:r>
            <a:endParaRPr sz="1200"/>
          </a:p>
        </p:txBody>
      </p:sp>
      <p:sp>
        <p:nvSpPr>
          <p:cNvPr id="398" name="Google Shape;398;p61"/>
          <p:cNvSpPr txBox="1"/>
          <p:nvPr/>
        </p:nvSpPr>
        <p:spPr>
          <a:xfrm>
            <a:off x="4064224" y="1797525"/>
            <a:ext cx="14802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Random Forest</a:t>
            </a:r>
            <a:endParaRPr sz="1200"/>
          </a:p>
        </p:txBody>
      </p:sp>
      <p:pic>
        <p:nvPicPr>
          <p:cNvPr id="399" name="Google Shape;399;p61"/>
          <p:cNvPicPr preferRelativeResize="0"/>
          <p:nvPr/>
        </p:nvPicPr>
        <p:blipFill>
          <a:blip r:embed="rId5">
            <a:alphaModFix/>
          </a:blip>
          <a:stretch>
            <a:fillRect/>
          </a:stretch>
        </p:blipFill>
        <p:spPr>
          <a:xfrm>
            <a:off x="5913376" y="2093520"/>
            <a:ext cx="2918923" cy="2872555"/>
          </a:xfrm>
          <a:prstGeom prst="rect">
            <a:avLst/>
          </a:prstGeom>
          <a:noFill/>
          <a:ln>
            <a:noFill/>
          </a:ln>
        </p:spPr>
      </p:pic>
      <p:sp>
        <p:nvSpPr>
          <p:cNvPr id="400" name="Google Shape;400;p61"/>
          <p:cNvSpPr txBox="1"/>
          <p:nvPr/>
        </p:nvSpPr>
        <p:spPr>
          <a:xfrm>
            <a:off x="6655950" y="1834750"/>
            <a:ext cx="1789200" cy="2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5"/>
                </a:solidFill>
                <a:latin typeface="Georgia"/>
                <a:ea typeface="Georgia"/>
                <a:cs typeface="Georgia"/>
                <a:sym typeface="Georgia"/>
              </a:rPr>
              <a:t>Logistic Regression</a:t>
            </a:r>
            <a:endParaRPr sz="1200"/>
          </a:p>
        </p:txBody>
      </p:sp>
      <p:sp>
        <p:nvSpPr>
          <p:cNvPr id="401" name="Google Shape;401;p61"/>
          <p:cNvSpPr txBox="1"/>
          <p:nvPr/>
        </p:nvSpPr>
        <p:spPr>
          <a:xfrm>
            <a:off x="927575" y="977650"/>
            <a:ext cx="7753500" cy="99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a:solidFill>
                  <a:schemeClr val="dk2"/>
                </a:solidFill>
                <a:latin typeface="Georgia"/>
                <a:ea typeface="Georgia"/>
                <a:cs typeface="Georgia"/>
                <a:sym typeface="Georgia"/>
              </a:rPr>
              <a:t>For all of the three models, the following features are highly critical:</a:t>
            </a:r>
            <a:endParaRPr sz="1600">
              <a:latin typeface="Georgia"/>
              <a:ea typeface="Georgia"/>
              <a:cs typeface="Georgia"/>
              <a:sym typeface="Georgia"/>
            </a:endParaRPr>
          </a:p>
          <a:p>
            <a:pPr marL="0" lvl="0" indent="0" algn="l" rtl="0">
              <a:lnSpc>
                <a:spcPct val="115000"/>
              </a:lnSpc>
              <a:spcBef>
                <a:spcPts val="0"/>
              </a:spcBef>
              <a:spcAft>
                <a:spcPts val="0"/>
              </a:spcAft>
              <a:buNone/>
            </a:pPr>
            <a:r>
              <a:rPr lang="en" sz="1600" b="1">
                <a:solidFill>
                  <a:schemeClr val="dk2"/>
                </a:solidFill>
                <a:latin typeface="Georgia"/>
                <a:ea typeface="Georgia"/>
                <a:cs typeface="Georgia"/>
                <a:sym typeface="Georgia"/>
              </a:rPr>
              <a:t>“N_investors”, “sector_10”,”duration_scaled”,”reputation”</a:t>
            </a:r>
            <a:endParaRPr sz="1600" b="1">
              <a:solidFill>
                <a:schemeClr val="dk2"/>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1737</Words>
  <Application>Microsoft Macintosh PowerPoint</Application>
  <PresentationFormat>On-screen Show (16:9)</PresentationFormat>
  <Paragraphs>241</Paragraphs>
  <Slides>37</Slides>
  <Notes>37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37</vt:i4>
      </vt:variant>
    </vt:vector>
  </HeadingPairs>
  <TitlesOfParts>
    <vt:vector size="43" baseType="lpstr">
      <vt:lpstr>Roboto</vt:lpstr>
      <vt:lpstr>Roboto Medium</vt:lpstr>
      <vt:lpstr>Arial</vt:lpstr>
      <vt:lpstr>Georgia</vt:lpstr>
      <vt:lpstr>Simple Light</vt:lpstr>
      <vt:lpstr>Simple Light</vt:lpstr>
      <vt:lpstr>Market for Startups                                and Venture Capitalists</vt:lpstr>
      <vt:lpstr>Variable description</vt:lpstr>
      <vt:lpstr>Variable description</vt:lpstr>
      <vt:lpstr>Snapshot of a company</vt:lpstr>
      <vt:lpstr>Key Financials of INAP</vt:lpstr>
      <vt:lpstr>Which startup features correlate with success?  </vt:lpstr>
      <vt:lpstr>Which startup features correlate with success?    </vt:lpstr>
      <vt:lpstr>Is effect of duration / total funding consistent before and after the “dot com bubble”?   </vt:lpstr>
      <vt:lpstr>Which startup features predict success?  </vt:lpstr>
      <vt:lpstr>Which startup features predict success after 2 yrs?  </vt:lpstr>
      <vt:lpstr>Which startup features predict success after 4 years?  </vt:lpstr>
      <vt:lpstr>Which startup features predict success?  </vt:lpstr>
      <vt:lpstr>Machine learning methods  Can we improve the model performance by using ML methods?  </vt:lpstr>
      <vt:lpstr>Random forest - fine tuning</vt:lpstr>
      <vt:lpstr>XGBoost - fine tuning</vt:lpstr>
      <vt:lpstr>Model comparison </vt:lpstr>
      <vt:lpstr>Feature importance comparison </vt:lpstr>
      <vt:lpstr>Feature importance comparison </vt:lpstr>
      <vt:lpstr>Robustness assessment</vt:lpstr>
      <vt:lpstr>Robustness assessment</vt:lpstr>
      <vt:lpstr>Sector analysis &amp; modeling </vt:lpstr>
      <vt:lpstr>Model Comparison (Service) </vt:lpstr>
      <vt:lpstr>Model Comparison (Manufacturing) </vt:lpstr>
      <vt:lpstr>Feature importance (Services) </vt:lpstr>
      <vt:lpstr>Feature importance (Manufacturing) </vt:lpstr>
      <vt:lpstr>Feature importance comparison </vt:lpstr>
      <vt:lpstr>Appendix</vt:lpstr>
      <vt:lpstr>SHAP</vt:lpstr>
      <vt:lpstr>SHAP</vt:lpstr>
      <vt:lpstr>PowerPoint Presentation</vt:lpstr>
      <vt:lpstr>PowerPoint Presentation</vt:lpstr>
      <vt:lpstr>Model Evaluation Metrics</vt:lpstr>
      <vt:lpstr>Model Evaluation Metrics </vt:lpstr>
      <vt:lpstr>Random Forest Tree Split partial example</vt:lpstr>
      <vt:lpstr>To get an overview of which features are most important for a model we can plot the SHAP values of every feature for every sample.   The color represents the feature value (red high, blue low). This reveals for example that a high sector_10 value (in a binary case is 1) lowers the predicted value of success.</vt:lpstr>
      <vt:lpstr>PowerPoint Presentation</vt:lpstr>
      <vt:lpstr>Feature importance comparison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for Startups                                and Venture Capitalists</dc:title>
  <cp:lastModifiedBy>Farzad Pourbabaee</cp:lastModifiedBy>
  <cp:revision>1</cp:revision>
  <dcterms:modified xsi:type="dcterms:W3CDTF">2021-02-15T17:33:25Z</dcterms:modified>
</cp:coreProperties>
</file>